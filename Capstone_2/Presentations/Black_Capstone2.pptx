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62" r:id="rId5"/>
    <p:sldId id="260" r:id="rId6"/>
    <p:sldId id="261" r:id="rId7"/>
    <p:sldId id="263" r:id="rId8"/>
    <p:sldId id="264" r:id="rId9"/>
    <p:sldId id="265" r:id="rId10"/>
    <p:sldId id="266" r:id="rId11"/>
    <p:sldId id="267" r:id="rId12"/>
  </p:sldIdLst>
  <p:sldSz cx="18288000" cy="10287000"/>
  <p:notesSz cx="6858000" cy="9144000"/>
  <p:embeddedFontLst>
    <p:embeddedFont>
      <p:font typeface="Forum" panose="020B0604020202020204" charset="0"/>
      <p:regular r:id="rId13"/>
    </p:embeddedFont>
    <p:embeddedFont>
      <p:font typeface="Le Jour Serif" panose="020B0604020202020204" charset="0"/>
      <p:regular r:id="rId14"/>
    </p:embeddedFont>
    <p:embeddedFont>
      <p:font typeface="Parfumerie Script Pro"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002CB-B399-74CF-F6BE-1C34AE5DBD46}" v="1273" dt="2026-05-29T03:56:07.4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622" autoAdjust="0"/>
  </p:normalViewPr>
  <p:slideViewPr>
    <p:cSldViewPr>
      <p:cViewPr varScale="1">
        <p:scale>
          <a:sx n="36" d="100"/>
          <a:sy n="36" d="100"/>
        </p:scale>
        <p:origin x="52" y="7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svg"/><Relationship Id="rId7"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14.sv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3.svg"/><Relationship Id="rId4" Type="http://schemas.openxmlformats.org/officeDocument/2006/relationships/image" Target="../media/image19.sv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3.svg"/><Relationship Id="rId4" Type="http://schemas.openxmlformats.org/officeDocument/2006/relationships/image" Target="../media/image24.sv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3.svg"/><Relationship Id="rId4" Type="http://schemas.openxmlformats.org/officeDocument/2006/relationships/image" Target="../media/image28.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103924" y="-114300"/>
            <a:ext cx="3614183" cy="4026944"/>
          </a:xfrm>
          <a:custGeom>
            <a:avLst/>
            <a:gdLst/>
            <a:ahLst/>
            <a:cxnLst/>
            <a:rect l="l" t="t" r="r" b="b"/>
            <a:pathLst>
              <a:path w="3614183" h="4026944">
                <a:moveTo>
                  <a:pt x="0" y="0"/>
                </a:moveTo>
                <a:lnTo>
                  <a:pt x="3614182" y="0"/>
                </a:lnTo>
                <a:lnTo>
                  <a:pt x="3614182" y="4026944"/>
                </a:lnTo>
                <a:lnTo>
                  <a:pt x="0" y="402694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4693586" y="6674916"/>
            <a:ext cx="3396390" cy="3396390"/>
          </a:xfrm>
          <a:custGeom>
            <a:avLst/>
            <a:gdLst/>
            <a:ahLst/>
            <a:cxnLst/>
            <a:rect l="l" t="t" r="r" b="b"/>
            <a:pathLst>
              <a:path w="3396390" h="3396390">
                <a:moveTo>
                  <a:pt x="0" y="0"/>
                </a:moveTo>
                <a:lnTo>
                  <a:pt x="3396390" y="0"/>
                </a:lnTo>
                <a:lnTo>
                  <a:pt x="3396390" y="3396390"/>
                </a:lnTo>
                <a:lnTo>
                  <a:pt x="0" y="339639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8376" y="1328440"/>
            <a:ext cx="16979049" cy="6848029"/>
          </a:xfrm>
          <a:prstGeom prst="rect">
            <a:avLst/>
          </a:prstGeom>
        </p:spPr>
        <p:txBody>
          <a:bodyPr wrap="square" lIns="0" tIns="0" rIns="0" bIns="0" rtlCol="0" anchor="t">
            <a:spAutoFit/>
          </a:bodyPr>
          <a:lstStyle/>
          <a:p>
            <a:pPr algn="ctr">
              <a:lnSpc>
                <a:spcPts val="53373"/>
              </a:lnSpc>
            </a:pPr>
            <a:r>
              <a:rPr lang="en-US" sz="38100" dirty="0" err="1">
                <a:solidFill>
                  <a:srgbClr val="000000"/>
                </a:solidFill>
                <a:latin typeface="Parfumerie Script Pro"/>
                <a:sym typeface="Parfumerie Script Pro"/>
              </a:rPr>
              <a:t>EmporiUm</a:t>
            </a:r>
            <a:endParaRPr lang="en-US" dirty="0"/>
          </a:p>
        </p:txBody>
      </p:sp>
      <p:sp>
        <p:nvSpPr>
          <p:cNvPr id="5" name="Freeform 5"/>
          <p:cNvSpPr/>
          <p:nvPr/>
        </p:nvSpPr>
        <p:spPr>
          <a:xfrm>
            <a:off x="8321187" y="5848350"/>
            <a:ext cx="1645627" cy="1645627"/>
          </a:xfrm>
          <a:custGeom>
            <a:avLst/>
            <a:gdLst/>
            <a:ahLst/>
            <a:cxnLst/>
            <a:rect l="l" t="t" r="r" b="b"/>
            <a:pathLst>
              <a:path w="1645627" h="1645627">
                <a:moveTo>
                  <a:pt x="0" y="0"/>
                </a:moveTo>
                <a:lnTo>
                  <a:pt x="1645626" y="0"/>
                </a:lnTo>
                <a:lnTo>
                  <a:pt x="1645626" y="1645627"/>
                </a:lnTo>
                <a:lnTo>
                  <a:pt x="0" y="164562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4806169" y="1481831"/>
            <a:ext cx="7563711" cy="2190984"/>
          </a:xfrm>
          <a:prstGeom prst="rect">
            <a:avLst/>
          </a:prstGeom>
        </p:spPr>
        <p:txBody>
          <a:bodyPr lIns="0" tIns="0" rIns="0" bIns="0" rtlCol="0" anchor="t">
            <a:spAutoFit/>
          </a:bodyPr>
          <a:lstStyle/>
          <a:p>
            <a:pPr algn="ctr">
              <a:lnSpc>
                <a:spcPts val="8680"/>
              </a:lnSpc>
            </a:pPr>
            <a:r>
              <a:rPr lang="en-US" sz="6200">
                <a:solidFill>
                  <a:srgbClr val="000000"/>
                </a:solidFill>
                <a:latin typeface="Le Jour Serif"/>
                <a:ea typeface="Le Jour Serif"/>
                <a:cs typeface="Le Jour Serif"/>
                <a:sym typeface="Le Jour Serif"/>
              </a:rPr>
              <a:t>Sales Analysis for ​</a:t>
            </a:r>
            <a:endParaRPr lang="en-US" sz="6200">
              <a:solidFill>
                <a:srgbClr val="000000"/>
              </a:solidFill>
              <a:latin typeface="Le Jour Serif"/>
              <a:ea typeface="Le Jour Serif"/>
              <a:cs typeface="Le Jour Serif"/>
            </a:endParaRPr>
          </a:p>
        </p:txBody>
      </p:sp>
      <p:sp>
        <p:nvSpPr>
          <p:cNvPr id="7" name="TextBox 7"/>
          <p:cNvSpPr txBox="1"/>
          <p:nvPr/>
        </p:nvSpPr>
        <p:spPr>
          <a:xfrm>
            <a:off x="3237337" y="7969251"/>
            <a:ext cx="11813326" cy="721995"/>
          </a:xfrm>
          <a:prstGeom prst="rect">
            <a:avLst/>
          </a:prstGeom>
        </p:spPr>
        <p:txBody>
          <a:bodyPr lIns="0" tIns="0" rIns="0" bIns="0" rtlCol="0" anchor="t">
            <a:spAutoFit/>
          </a:bodyPr>
          <a:lstStyle/>
          <a:p>
            <a:pPr algn="ctr">
              <a:lnSpc>
                <a:spcPts val="5880"/>
              </a:lnSpc>
            </a:pPr>
            <a:r>
              <a:rPr lang="en-US" sz="4200">
                <a:solidFill>
                  <a:srgbClr val="000000"/>
                </a:solidFill>
                <a:latin typeface="Le Jour Serif"/>
                <a:ea typeface="Le Jour Serif"/>
                <a:cs typeface="Le Jour Serif"/>
                <a:sym typeface="Le Jour Serif"/>
              </a:rPr>
              <a:t>P​resented by Maia Black</a:t>
            </a:r>
            <a:endParaRPr lang="en-US" sz="4200">
              <a:solidFill>
                <a:srgbClr val="000000"/>
              </a:solidFill>
              <a:latin typeface="Le Jour Serif"/>
              <a:ea typeface="Le Jour Serif"/>
              <a:cs typeface="Le Jour Serif"/>
            </a:endParaRPr>
          </a:p>
        </p:txBody>
      </p:sp>
      <p:sp>
        <p:nvSpPr>
          <p:cNvPr id="8" name="Freeform 8"/>
          <p:cNvSpPr/>
          <p:nvPr/>
        </p:nvSpPr>
        <p:spPr>
          <a:xfrm>
            <a:off x="2284960" y="2056042"/>
            <a:ext cx="1110762" cy="1110762"/>
          </a:xfrm>
          <a:custGeom>
            <a:avLst/>
            <a:gdLst/>
            <a:ahLst/>
            <a:cxnLst/>
            <a:rect l="l" t="t" r="r" b="b"/>
            <a:pathLst>
              <a:path w="1110762" h="1110762">
                <a:moveTo>
                  <a:pt x="0" y="0"/>
                </a:moveTo>
                <a:lnTo>
                  <a:pt x="1110762" y="0"/>
                </a:lnTo>
                <a:lnTo>
                  <a:pt x="1110762" y="1110762"/>
                </a:lnTo>
                <a:lnTo>
                  <a:pt x="0" y="11107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6289948" y="8373111"/>
            <a:ext cx="1110762" cy="1110762"/>
          </a:xfrm>
          <a:custGeom>
            <a:avLst/>
            <a:gdLst/>
            <a:ahLst/>
            <a:cxnLst/>
            <a:rect l="l" t="t" r="r" b="b"/>
            <a:pathLst>
              <a:path w="1110762" h="1110762">
                <a:moveTo>
                  <a:pt x="0" y="0"/>
                </a:moveTo>
                <a:lnTo>
                  <a:pt x="1110762" y="0"/>
                </a:lnTo>
                <a:lnTo>
                  <a:pt x="1110762" y="1110762"/>
                </a:lnTo>
                <a:lnTo>
                  <a:pt x="0" y="11107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1035">
        <p159:morph option="byObject"/>
      </p:transition>
    </mc:Choice>
    <mc:Fallback xmlns="">
      <p:transition spd="slow" advTm="21035">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grpSp>
        <p:nvGrpSpPr>
          <p:cNvPr id="2" name="Group 2"/>
          <p:cNvGrpSpPr/>
          <p:nvPr/>
        </p:nvGrpSpPr>
        <p:grpSpPr>
          <a:xfrm>
            <a:off x="1229823" y="5343971"/>
            <a:ext cx="5065361" cy="3086100"/>
            <a:chOff x="0" y="0"/>
            <a:chExt cx="1150847" cy="812800"/>
          </a:xfrm>
        </p:grpSpPr>
        <p:sp>
          <p:nvSpPr>
            <p:cNvPr id="3" name="Freeform 3"/>
            <p:cNvSpPr/>
            <p:nvPr/>
          </p:nvSpPr>
          <p:spPr>
            <a:xfrm>
              <a:off x="0" y="0"/>
              <a:ext cx="1150847" cy="812800"/>
            </a:xfrm>
            <a:custGeom>
              <a:avLst/>
              <a:gdLst/>
              <a:ahLst/>
              <a:cxnLst/>
              <a:rect l="l" t="t" r="r" b="b"/>
              <a:pathLst>
                <a:path w="1150847" h="812800">
                  <a:moveTo>
                    <a:pt x="90360" y="0"/>
                  </a:moveTo>
                  <a:lnTo>
                    <a:pt x="1060487" y="0"/>
                  </a:lnTo>
                  <a:cubicBezTo>
                    <a:pt x="1084452" y="0"/>
                    <a:pt x="1107436" y="9520"/>
                    <a:pt x="1124381" y="26466"/>
                  </a:cubicBezTo>
                  <a:cubicBezTo>
                    <a:pt x="1141327" y="43411"/>
                    <a:pt x="1150847" y="66395"/>
                    <a:pt x="1150847" y="90360"/>
                  </a:cubicBezTo>
                  <a:lnTo>
                    <a:pt x="1150847" y="722440"/>
                  </a:lnTo>
                  <a:cubicBezTo>
                    <a:pt x="1150847" y="772345"/>
                    <a:pt x="1110392" y="812800"/>
                    <a:pt x="1060487" y="812800"/>
                  </a:cubicBezTo>
                  <a:lnTo>
                    <a:pt x="90360" y="812800"/>
                  </a:lnTo>
                  <a:cubicBezTo>
                    <a:pt x="40455" y="812800"/>
                    <a:pt x="0" y="772345"/>
                    <a:pt x="0" y="722440"/>
                  </a:cubicBezTo>
                  <a:lnTo>
                    <a:pt x="0" y="90360"/>
                  </a:lnTo>
                  <a:cubicBezTo>
                    <a:pt x="0" y="40455"/>
                    <a:pt x="40455" y="0"/>
                    <a:pt x="90360" y="0"/>
                  </a:cubicBezTo>
                  <a:close/>
                </a:path>
              </a:pathLst>
            </a:custGeom>
            <a:ln w="19050" cap="rnd">
              <a:solidFill>
                <a:srgbClr val="000000"/>
              </a:solidFill>
              <a:prstDash val="solid"/>
              <a:round/>
            </a:ln>
          </p:spPr>
          <p:txBody>
            <a:bodyPr/>
            <a:lstStyle/>
            <a:p>
              <a:endParaRPr lang="en-US"/>
            </a:p>
          </p:txBody>
        </p:sp>
        <p:sp>
          <p:nvSpPr>
            <p:cNvPr id="4" name="TextBox 4"/>
            <p:cNvSpPr txBox="1"/>
            <p:nvPr/>
          </p:nvSpPr>
          <p:spPr>
            <a:xfrm>
              <a:off x="0" y="-47625"/>
              <a:ext cx="1150847" cy="8604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686017" y="5356396"/>
            <a:ext cx="4642948" cy="3086100"/>
            <a:chOff x="0" y="0"/>
            <a:chExt cx="1150847" cy="812800"/>
          </a:xfrm>
        </p:grpSpPr>
        <p:sp>
          <p:nvSpPr>
            <p:cNvPr id="6" name="Freeform 6"/>
            <p:cNvSpPr/>
            <p:nvPr/>
          </p:nvSpPr>
          <p:spPr>
            <a:xfrm>
              <a:off x="0" y="0"/>
              <a:ext cx="1150847" cy="812800"/>
            </a:xfrm>
            <a:custGeom>
              <a:avLst/>
              <a:gdLst/>
              <a:ahLst/>
              <a:cxnLst/>
              <a:rect l="l" t="t" r="r" b="b"/>
              <a:pathLst>
                <a:path w="1150847" h="812800">
                  <a:moveTo>
                    <a:pt x="90360" y="0"/>
                  </a:moveTo>
                  <a:lnTo>
                    <a:pt x="1060487" y="0"/>
                  </a:lnTo>
                  <a:cubicBezTo>
                    <a:pt x="1084452" y="0"/>
                    <a:pt x="1107436" y="9520"/>
                    <a:pt x="1124381" y="26466"/>
                  </a:cubicBezTo>
                  <a:cubicBezTo>
                    <a:pt x="1141327" y="43411"/>
                    <a:pt x="1150847" y="66395"/>
                    <a:pt x="1150847" y="90360"/>
                  </a:cubicBezTo>
                  <a:lnTo>
                    <a:pt x="1150847" y="722440"/>
                  </a:lnTo>
                  <a:cubicBezTo>
                    <a:pt x="1150847" y="772345"/>
                    <a:pt x="1110392" y="812800"/>
                    <a:pt x="1060487" y="812800"/>
                  </a:cubicBezTo>
                  <a:lnTo>
                    <a:pt x="90360" y="812800"/>
                  </a:lnTo>
                  <a:cubicBezTo>
                    <a:pt x="40455" y="812800"/>
                    <a:pt x="0" y="772345"/>
                    <a:pt x="0" y="722440"/>
                  </a:cubicBezTo>
                  <a:lnTo>
                    <a:pt x="0" y="90360"/>
                  </a:lnTo>
                  <a:cubicBezTo>
                    <a:pt x="0" y="40455"/>
                    <a:pt x="40455" y="0"/>
                    <a:pt x="90360" y="0"/>
                  </a:cubicBezTo>
                  <a:close/>
                </a:path>
              </a:pathLst>
            </a:custGeom>
            <a:ln w="19050" cap="rnd">
              <a:solidFill>
                <a:srgbClr val="000000"/>
              </a:solidFill>
              <a:prstDash val="solid"/>
              <a:round/>
            </a:ln>
          </p:spPr>
          <p:txBody>
            <a:bodyPr/>
            <a:lstStyle/>
            <a:p>
              <a:endParaRPr lang="en-US"/>
            </a:p>
          </p:txBody>
        </p:sp>
        <p:sp>
          <p:nvSpPr>
            <p:cNvPr id="7" name="TextBox 7"/>
            <p:cNvSpPr txBox="1"/>
            <p:nvPr/>
          </p:nvSpPr>
          <p:spPr>
            <a:xfrm>
              <a:off x="0" y="-47625"/>
              <a:ext cx="1150847" cy="860425"/>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099268" y="-132321"/>
            <a:ext cx="4707353" cy="4707353"/>
          </a:xfrm>
          <a:custGeom>
            <a:avLst/>
            <a:gdLst/>
            <a:ahLst/>
            <a:cxnLst/>
            <a:rect l="l" t="t" r="r" b="b"/>
            <a:pathLst>
              <a:path w="4707353" h="4707353">
                <a:moveTo>
                  <a:pt x="0" y="0"/>
                </a:moveTo>
                <a:lnTo>
                  <a:pt x="4707353" y="0"/>
                </a:lnTo>
                <a:lnTo>
                  <a:pt x="4707353" y="4707353"/>
                </a:lnTo>
                <a:lnTo>
                  <a:pt x="0" y="4707353"/>
                </a:lnTo>
                <a:lnTo>
                  <a:pt x="0" y="0"/>
                </a:lnTo>
                <a:close/>
              </a:path>
            </a:pathLst>
          </a:custGeom>
          <a:blipFill>
            <a:blip r:embed="rId2"/>
            <a:stretch>
              <a:fillRect/>
            </a:stretch>
          </a:blipFill>
        </p:spPr>
        <p:txBody>
          <a:bodyPr/>
          <a:lstStyle/>
          <a:p>
            <a:endParaRPr lang="en-US"/>
          </a:p>
        </p:txBody>
      </p:sp>
      <p:grpSp>
        <p:nvGrpSpPr>
          <p:cNvPr id="9" name="Group 9"/>
          <p:cNvGrpSpPr/>
          <p:nvPr/>
        </p:nvGrpSpPr>
        <p:grpSpPr>
          <a:xfrm>
            <a:off x="12033483" y="5356396"/>
            <a:ext cx="5052937" cy="3086100"/>
            <a:chOff x="0" y="0"/>
            <a:chExt cx="1150847" cy="812800"/>
          </a:xfrm>
        </p:grpSpPr>
        <p:sp>
          <p:nvSpPr>
            <p:cNvPr id="10" name="Freeform 10"/>
            <p:cNvSpPr/>
            <p:nvPr/>
          </p:nvSpPr>
          <p:spPr>
            <a:xfrm>
              <a:off x="0" y="0"/>
              <a:ext cx="1150847" cy="812800"/>
            </a:xfrm>
            <a:custGeom>
              <a:avLst/>
              <a:gdLst/>
              <a:ahLst/>
              <a:cxnLst/>
              <a:rect l="l" t="t" r="r" b="b"/>
              <a:pathLst>
                <a:path w="1150847" h="812800">
                  <a:moveTo>
                    <a:pt x="90360" y="0"/>
                  </a:moveTo>
                  <a:lnTo>
                    <a:pt x="1060487" y="0"/>
                  </a:lnTo>
                  <a:cubicBezTo>
                    <a:pt x="1084452" y="0"/>
                    <a:pt x="1107436" y="9520"/>
                    <a:pt x="1124381" y="26466"/>
                  </a:cubicBezTo>
                  <a:cubicBezTo>
                    <a:pt x="1141327" y="43411"/>
                    <a:pt x="1150847" y="66395"/>
                    <a:pt x="1150847" y="90360"/>
                  </a:cubicBezTo>
                  <a:lnTo>
                    <a:pt x="1150847" y="722440"/>
                  </a:lnTo>
                  <a:cubicBezTo>
                    <a:pt x="1150847" y="772345"/>
                    <a:pt x="1110392" y="812800"/>
                    <a:pt x="1060487" y="812800"/>
                  </a:cubicBezTo>
                  <a:lnTo>
                    <a:pt x="90360" y="812800"/>
                  </a:lnTo>
                  <a:cubicBezTo>
                    <a:pt x="40455" y="812800"/>
                    <a:pt x="0" y="772345"/>
                    <a:pt x="0" y="722440"/>
                  </a:cubicBezTo>
                  <a:lnTo>
                    <a:pt x="0" y="90360"/>
                  </a:lnTo>
                  <a:cubicBezTo>
                    <a:pt x="0" y="40455"/>
                    <a:pt x="40455" y="0"/>
                    <a:pt x="90360" y="0"/>
                  </a:cubicBezTo>
                  <a:close/>
                </a:path>
              </a:pathLst>
            </a:custGeom>
            <a:ln w="19050" cap="rnd">
              <a:solidFill>
                <a:srgbClr val="000000"/>
              </a:solidFill>
              <a:prstDash val="solid"/>
              <a:round/>
            </a:ln>
          </p:spPr>
          <p:txBody>
            <a:bodyPr/>
            <a:lstStyle/>
            <a:p>
              <a:endParaRPr lang="en-US"/>
            </a:p>
          </p:txBody>
        </p:sp>
        <p:sp>
          <p:nvSpPr>
            <p:cNvPr id="11" name="TextBox 11"/>
            <p:cNvSpPr txBox="1"/>
            <p:nvPr/>
          </p:nvSpPr>
          <p:spPr>
            <a:xfrm>
              <a:off x="0" y="-47625"/>
              <a:ext cx="1150847" cy="860425"/>
            </a:xfrm>
            <a:prstGeom prst="rect">
              <a:avLst/>
            </a:prstGeom>
          </p:spPr>
          <p:txBody>
            <a:bodyPr lIns="50800" tIns="50800" rIns="50800" bIns="50800" rtlCol="0" anchor="ctr"/>
            <a:lstStyle/>
            <a:p>
              <a:pPr algn="ctr">
                <a:lnSpc>
                  <a:spcPts val="2659"/>
                </a:lnSpc>
              </a:pPr>
              <a:endParaRPr/>
            </a:p>
          </p:txBody>
        </p:sp>
      </p:grpSp>
      <p:sp>
        <p:nvSpPr>
          <p:cNvPr id="12" name="AutoShape 12"/>
          <p:cNvSpPr/>
          <p:nvPr/>
        </p:nvSpPr>
        <p:spPr>
          <a:xfrm>
            <a:off x="2710126" y="6583427"/>
            <a:ext cx="2253841" cy="0"/>
          </a:xfrm>
          <a:prstGeom prst="line">
            <a:avLst/>
          </a:prstGeom>
          <a:ln w="19050" cap="rnd">
            <a:solidFill>
              <a:srgbClr val="000000"/>
            </a:solidFill>
            <a:prstDash val="solid"/>
            <a:headEnd type="none" w="sm" len="sm"/>
            <a:tailEnd type="none" w="sm" len="sm"/>
          </a:ln>
        </p:spPr>
        <p:txBody>
          <a:bodyPr/>
          <a:lstStyle/>
          <a:p>
            <a:endParaRPr lang="en-US"/>
          </a:p>
        </p:txBody>
      </p:sp>
      <p:sp>
        <p:nvSpPr>
          <p:cNvPr id="13" name="AutoShape 13"/>
          <p:cNvSpPr/>
          <p:nvPr/>
        </p:nvSpPr>
        <p:spPr>
          <a:xfrm>
            <a:off x="7880570" y="6465280"/>
            <a:ext cx="2253841" cy="0"/>
          </a:xfrm>
          <a:prstGeom prst="line">
            <a:avLst/>
          </a:prstGeom>
          <a:ln w="19050" cap="rnd">
            <a:solidFill>
              <a:srgbClr val="000000"/>
            </a:solidFill>
            <a:prstDash val="solid"/>
            <a:headEnd type="none" w="sm" len="sm"/>
            <a:tailEnd type="none" w="sm" len="sm"/>
          </a:ln>
        </p:spPr>
        <p:txBody>
          <a:bodyPr/>
          <a:lstStyle/>
          <a:p>
            <a:endParaRPr lang="en-US"/>
          </a:p>
        </p:txBody>
      </p:sp>
      <p:sp>
        <p:nvSpPr>
          <p:cNvPr id="14" name="AutoShape 14"/>
          <p:cNvSpPr/>
          <p:nvPr/>
        </p:nvSpPr>
        <p:spPr>
          <a:xfrm>
            <a:off x="13433032" y="6583427"/>
            <a:ext cx="2253841" cy="0"/>
          </a:xfrm>
          <a:prstGeom prst="line">
            <a:avLst/>
          </a:prstGeom>
          <a:ln w="19050" cap="rnd">
            <a:solidFill>
              <a:srgbClr val="000000"/>
            </a:solidFill>
            <a:prstDash val="solid"/>
            <a:headEnd type="none" w="sm" len="sm"/>
            <a:tailEnd type="none" w="sm" len="sm"/>
          </a:ln>
        </p:spPr>
        <p:txBody>
          <a:bodyPr/>
          <a:lstStyle/>
          <a:p>
            <a:endParaRPr lang="en-US"/>
          </a:p>
        </p:txBody>
      </p:sp>
      <p:sp>
        <p:nvSpPr>
          <p:cNvPr id="15" name="Freeform 15"/>
          <p:cNvSpPr/>
          <p:nvPr/>
        </p:nvSpPr>
        <p:spPr>
          <a:xfrm>
            <a:off x="-384254" y="-422545"/>
            <a:ext cx="4707353" cy="4707353"/>
          </a:xfrm>
          <a:custGeom>
            <a:avLst/>
            <a:gdLst/>
            <a:ahLst/>
            <a:cxnLst/>
            <a:rect l="l" t="t" r="r" b="b"/>
            <a:pathLst>
              <a:path w="4707353" h="4707353">
                <a:moveTo>
                  <a:pt x="0" y="0"/>
                </a:moveTo>
                <a:lnTo>
                  <a:pt x="4707354" y="0"/>
                </a:lnTo>
                <a:lnTo>
                  <a:pt x="4707354" y="4707354"/>
                </a:lnTo>
                <a:lnTo>
                  <a:pt x="0" y="4707354"/>
                </a:lnTo>
                <a:lnTo>
                  <a:pt x="0" y="0"/>
                </a:lnTo>
                <a:close/>
              </a:path>
            </a:pathLst>
          </a:custGeom>
          <a:blipFill>
            <a:blip r:embed="rId2"/>
            <a:stretch>
              <a:fillRect/>
            </a:stretch>
          </a:blipFill>
        </p:spPr>
        <p:txBody>
          <a:bodyPr/>
          <a:lstStyle/>
          <a:p>
            <a:endParaRPr lang="en-US"/>
          </a:p>
        </p:txBody>
      </p:sp>
      <p:sp>
        <p:nvSpPr>
          <p:cNvPr id="16" name="Freeform 16"/>
          <p:cNvSpPr/>
          <p:nvPr/>
        </p:nvSpPr>
        <p:spPr>
          <a:xfrm>
            <a:off x="1089301" y="954513"/>
            <a:ext cx="3233798" cy="2922545"/>
          </a:xfrm>
          <a:custGeom>
            <a:avLst/>
            <a:gdLst/>
            <a:ahLst/>
            <a:cxnLst/>
            <a:rect l="l" t="t" r="r" b="b"/>
            <a:pathLst>
              <a:path w="3233798" h="2922545">
                <a:moveTo>
                  <a:pt x="0" y="0"/>
                </a:moveTo>
                <a:lnTo>
                  <a:pt x="3233797" y="0"/>
                </a:lnTo>
                <a:lnTo>
                  <a:pt x="3233797" y="2922544"/>
                </a:lnTo>
                <a:lnTo>
                  <a:pt x="0" y="29225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7" name="TextBox 17"/>
          <p:cNvSpPr txBox="1"/>
          <p:nvPr/>
        </p:nvSpPr>
        <p:spPr>
          <a:xfrm>
            <a:off x="3658054" y="3523126"/>
            <a:ext cx="10971892" cy="1094104"/>
          </a:xfrm>
          <a:prstGeom prst="rect">
            <a:avLst/>
          </a:prstGeom>
        </p:spPr>
        <p:txBody>
          <a:bodyPr lIns="0" tIns="0" rIns="0" bIns="0" rtlCol="0" anchor="t">
            <a:spAutoFit/>
          </a:bodyPr>
          <a:lstStyle/>
          <a:p>
            <a:pPr algn="ctr">
              <a:lnSpc>
                <a:spcPts val="8199"/>
              </a:lnSpc>
            </a:pPr>
            <a:r>
              <a:rPr lang="en-US" sz="8150">
                <a:solidFill>
                  <a:srgbClr val="000000"/>
                </a:solidFill>
                <a:latin typeface="Le Jour Serif"/>
                <a:sym typeface="Le Jour Serif"/>
              </a:rPr>
              <a:t>Analyzed</a:t>
            </a:r>
            <a:endParaRPr lang="en-US"/>
          </a:p>
        </p:txBody>
      </p:sp>
      <p:sp>
        <p:nvSpPr>
          <p:cNvPr id="18" name="TextBox 18"/>
          <p:cNvSpPr txBox="1"/>
          <p:nvPr/>
        </p:nvSpPr>
        <p:spPr>
          <a:xfrm>
            <a:off x="3658054" y="2048257"/>
            <a:ext cx="10971892" cy="1670051"/>
          </a:xfrm>
          <a:prstGeom prst="rect">
            <a:avLst/>
          </a:prstGeom>
        </p:spPr>
        <p:txBody>
          <a:bodyPr lIns="0" tIns="0" rIns="0" bIns="0" rtlCol="0" anchor="t">
            <a:spAutoFit/>
          </a:bodyPr>
          <a:lstStyle/>
          <a:p>
            <a:pPr algn="ctr">
              <a:lnSpc>
                <a:spcPts val="12500"/>
              </a:lnSpc>
            </a:pPr>
            <a:r>
              <a:rPr lang="en-US" sz="12500">
                <a:latin typeface="Parfumerie Script Pro"/>
              </a:rPr>
              <a:t>What Was</a:t>
            </a:r>
            <a:endParaRPr lang="en-US" sz="12500" dirty="0">
              <a:latin typeface="Parfumerie Script Pro"/>
            </a:endParaRPr>
          </a:p>
        </p:txBody>
      </p:sp>
      <p:sp>
        <p:nvSpPr>
          <p:cNvPr id="19" name="TextBox 19"/>
          <p:cNvSpPr txBox="1"/>
          <p:nvPr/>
        </p:nvSpPr>
        <p:spPr>
          <a:xfrm>
            <a:off x="1885308" y="5908437"/>
            <a:ext cx="3754389" cy="536685"/>
          </a:xfrm>
          <a:prstGeom prst="rect">
            <a:avLst/>
          </a:prstGeom>
        </p:spPr>
        <p:txBody>
          <a:bodyPr lIns="0" tIns="0" rIns="0" bIns="0" rtlCol="0" anchor="t">
            <a:spAutoFit/>
          </a:bodyPr>
          <a:lstStyle/>
          <a:p>
            <a:pPr algn="ctr">
              <a:lnSpc>
                <a:spcPts val="3999"/>
              </a:lnSpc>
            </a:pPr>
            <a:r>
              <a:rPr lang="en-US" sz="3950">
                <a:solidFill>
                  <a:srgbClr val="000000"/>
                </a:solidFill>
                <a:latin typeface="Le Jour Serif"/>
                <a:ea typeface="Le Jour Serif"/>
                <a:cs typeface="Le Jour Serif"/>
                <a:sym typeface="Le Jour Serif"/>
              </a:rPr>
              <a:t>Revenue</a:t>
            </a:r>
            <a:endParaRPr lang="en-US" sz="3950">
              <a:solidFill>
                <a:srgbClr val="000000"/>
              </a:solidFill>
              <a:latin typeface="Le Jour Serif"/>
              <a:ea typeface="Le Jour Serif"/>
              <a:cs typeface="Le Jour Serif"/>
            </a:endParaRPr>
          </a:p>
        </p:txBody>
      </p:sp>
      <p:sp>
        <p:nvSpPr>
          <p:cNvPr id="20" name="TextBox 20"/>
          <p:cNvSpPr txBox="1"/>
          <p:nvPr/>
        </p:nvSpPr>
        <p:spPr>
          <a:xfrm>
            <a:off x="1500168" y="6843501"/>
            <a:ext cx="4537096" cy="1237390"/>
          </a:xfrm>
          <a:prstGeom prst="rect">
            <a:avLst/>
          </a:prstGeom>
        </p:spPr>
        <p:txBody>
          <a:bodyPr wrap="square" lIns="0" tIns="0" rIns="0" bIns="0" rtlCol="0" anchor="t">
            <a:spAutoFit/>
          </a:bodyPr>
          <a:lstStyle/>
          <a:p>
            <a:pPr marL="457200" indent="-457200" algn="ctr">
              <a:lnSpc>
                <a:spcPts val="3199"/>
              </a:lnSpc>
              <a:buFont typeface="Wingdings"/>
              <a:buChar char="v"/>
            </a:pPr>
            <a:r>
              <a:rPr lang="en-US" sz="3150" spc="95" dirty="0">
                <a:latin typeface="Forum"/>
              </a:rPr>
              <a:t>Total Monthly </a:t>
            </a:r>
            <a:r>
              <a:rPr lang="en-US" sz="3150" spc="95">
                <a:latin typeface="Forum"/>
              </a:rPr>
              <a:t>Revenue</a:t>
            </a:r>
          </a:p>
          <a:p>
            <a:pPr marL="457200" indent="-457200" algn="ctr">
              <a:lnSpc>
                <a:spcPts val="3199"/>
              </a:lnSpc>
              <a:buFont typeface="Wingdings"/>
              <a:buChar char="v"/>
            </a:pPr>
            <a:r>
              <a:rPr lang="en-US" sz="3150" spc="95">
                <a:latin typeface="Forum"/>
                <a:ea typeface="Calibri"/>
                <a:cs typeface="Calibri"/>
              </a:rPr>
              <a:t>Total Sales Revenue Per Month</a:t>
            </a:r>
            <a:endParaRPr lang="en-US" sz="3150" spc="95" dirty="0">
              <a:latin typeface="Forum"/>
              <a:ea typeface="Calibri"/>
              <a:cs typeface="Calibri"/>
            </a:endParaRPr>
          </a:p>
        </p:txBody>
      </p:sp>
      <p:sp>
        <p:nvSpPr>
          <p:cNvPr id="21" name="TextBox 21"/>
          <p:cNvSpPr txBox="1"/>
          <p:nvPr/>
        </p:nvSpPr>
        <p:spPr>
          <a:xfrm>
            <a:off x="6999702" y="5769021"/>
            <a:ext cx="3754389" cy="536685"/>
          </a:xfrm>
          <a:prstGeom prst="rect">
            <a:avLst/>
          </a:prstGeom>
        </p:spPr>
        <p:txBody>
          <a:bodyPr lIns="0" tIns="0" rIns="0" bIns="0" rtlCol="0" anchor="t">
            <a:spAutoFit/>
          </a:bodyPr>
          <a:lstStyle/>
          <a:p>
            <a:pPr algn="ctr">
              <a:lnSpc>
                <a:spcPts val="3999"/>
              </a:lnSpc>
            </a:pPr>
            <a:r>
              <a:rPr lang="en-US" sz="3950" dirty="0">
                <a:solidFill>
                  <a:srgbClr val="000000"/>
                </a:solidFill>
                <a:latin typeface="Le Jour Serif"/>
                <a:sym typeface="Le Jour Serif"/>
              </a:rPr>
              <a:t>Rank</a:t>
            </a:r>
            <a:endParaRPr lang="en-US" dirty="0"/>
          </a:p>
        </p:txBody>
      </p:sp>
      <p:sp>
        <p:nvSpPr>
          <p:cNvPr id="22" name="TextBox 22"/>
          <p:cNvSpPr txBox="1"/>
          <p:nvPr/>
        </p:nvSpPr>
        <p:spPr>
          <a:xfrm>
            <a:off x="7266805" y="6893197"/>
            <a:ext cx="3754389" cy="1237390"/>
          </a:xfrm>
          <a:prstGeom prst="rect">
            <a:avLst/>
          </a:prstGeom>
        </p:spPr>
        <p:txBody>
          <a:bodyPr lIns="0" tIns="0" rIns="0" bIns="0" rtlCol="0" anchor="t">
            <a:spAutoFit/>
          </a:bodyPr>
          <a:lstStyle/>
          <a:p>
            <a:pPr marL="457200" indent="-457200" algn="ctr">
              <a:lnSpc>
                <a:spcPts val="3199"/>
              </a:lnSpc>
              <a:buFont typeface="Wingdings"/>
              <a:buChar char="v"/>
            </a:pPr>
            <a:r>
              <a:rPr lang="en-US" sz="3150" spc="95" dirty="0">
                <a:solidFill>
                  <a:srgbClr val="000000"/>
                </a:solidFill>
                <a:latin typeface="Forum"/>
                <a:ea typeface="Calibri"/>
                <a:cs typeface="Calibri"/>
                <a:sym typeface="Forum"/>
              </a:rPr>
              <a:t>Store sales performance</a:t>
            </a:r>
          </a:p>
          <a:p>
            <a:pPr marL="457200" indent="-457200" algn="ctr">
              <a:lnSpc>
                <a:spcPts val="3199"/>
              </a:lnSpc>
              <a:buFont typeface="Wingdings"/>
              <a:buChar char="v"/>
            </a:pPr>
            <a:r>
              <a:rPr lang="en-US" sz="3150" spc="95" dirty="0">
                <a:latin typeface="Forum"/>
                <a:ea typeface="Calibri"/>
                <a:cs typeface="Calibri"/>
              </a:rPr>
              <a:t>Top customers</a:t>
            </a:r>
          </a:p>
        </p:txBody>
      </p:sp>
      <p:sp>
        <p:nvSpPr>
          <p:cNvPr id="23" name="TextBox 23"/>
          <p:cNvSpPr txBox="1"/>
          <p:nvPr/>
        </p:nvSpPr>
        <p:spPr>
          <a:xfrm>
            <a:off x="12682758" y="5888589"/>
            <a:ext cx="3754389" cy="536685"/>
          </a:xfrm>
          <a:prstGeom prst="rect">
            <a:avLst/>
          </a:prstGeom>
        </p:spPr>
        <p:txBody>
          <a:bodyPr lIns="0" tIns="0" rIns="0" bIns="0" rtlCol="0" anchor="t">
            <a:spAutoFit/>
          </a:bodyPr>
          <a:lstStyle/>
          <a:p>
            <a:pPr algn="ctr">
              <a:lnSpc>
                <a:spcPts val="3999"/>
              </a:lnSpc>
            </a:pPr>
            <a:r>
              <a:rPr lang="en-US" sz="3950">
                <a:solidFill>
                  <a:srgbClr val="000000"/>
                </a:solidFill>
                <a:latin typeface="Le Jour Serif"/>
                <a:ea typeface="Le Jour Serif"/>
                <a:cs typeface="Le Jour Serif"/>
                <a:sym typeface="Le Jour Serif"/>
              </a:rPr>
              <a:t>Comparison</a:t>
            </a:r>
            <a:endParaRPr lang="en-US" sz="3950">
              <a:solidFill>
                <a:srgbClr val="000000"/>
              </a:solidFill>
              <a:latin typeface="Le Jour Serif"/>
              <a:ea typeface="Le Jour Serif"/>
              <a:cs typeface="Le Jour Serif"/>
            </a:endParaRPr>
          </a:p>
        </p:txBody>
      </p:sp>
      <p:sp>
        <p:nvSpPr>
          <p:cNvPr id="24" name="TextBox 24"/>
          <p:cNvSpPr txBox="1"/>
          <p:nvPr/>
        </p:nvSpPr>
        <p:spPr>
          <a:xfrm>
            <a:off x="11909753" y="6822893"/>
            <a:ext cx="5357074" cy="1234312"/>
          </a:xfrm>
          <a:prstGeom prst="rect">
            <a:avLst/>
          </a:prstGeom>
        </p:spPr>
        <p:txBody>
          <a:bodyPr wrap="square" lIns="0" tIns="0" rIns="0" bIns="0" rtlCol="0" anchor="t">
            <a:spAutoFit/>
          </a:bodyPr>
          <a:lstStyle/>
          <a:p>
            <a:pPr marL="457200" indent="-457200" algn="ctr">
              <a:lnSpc>
                <a:spcPts val="3199"/>
              </a:lnSpc>
              <a:buFont typeface="Wingdings"/>
              <a:buChar char="v"/>
            </a:pPr>
            <a:r>
              <a:rPr lang="en-US" sz="3150" spc="95" dirty="0">
                <a:solidFill>
                  <a:srgbClr val="000000"/>
                </a:solidFill>
                <a:latin typeface="Forum"/>
                <a:ea typeface="Forum"/>
                <a:cs typeface="Forum"/>
                <a:sym typeface="Forum"/>
              </a:rPr>
              <a:t>Comparing customer ID with rewards ID</a:t>
            </a:r>
            <a:endParaRPr lang="en-US" sz="3150" spc="95" dirty="0">
              <a:solidFill>
                <a:srgbClr val="000000"/>
              </a:solidFill>
              <a:latin typeface="Forum"/>
              <a:ea typeface="Forum"/>
              <a:cs typeface="Forum"/>
            </a:endParaRPr>
          </a:p>
          <a:p>
            <a:pPr marL="457200" indent="-457200" algn="ctr">
              <a:lnSpc>
                <a:spcPts val="3199"/>
              </a:lnSpc>
              <a:buFont typeface="Wingdings"/>
              <a:buChar char="v"/>
            </a:pPr>
            <a:r>
              <a:rPr lang="en-US" sz="3150" spc="95" dirty="0">
                <a:solidFill>
                  <a:srgbClr val="000000"/>
                </a:solidFill>
                <a:latin typeface="Forum"/>
                <a:ea typeface="Forum"/>
                <a:cs typeface="Forum"/>
                <a:sym typeface="Forum"/>
              </a:rPr>
              <a:t>Most popular products​</a:t>
            </a:r>
            <a:endParaRPr lang="en-US" sz="3150" spc="95" dirty="0">
              <a:solidFill>
                <a:srgbClr val="000000"/>
              </a:solidFill>
              <a:latin typeface="Forum"/>
              <a:ea typeface="Forum"/>
              <a:cs typeface="Forum"/>
            </a:endParaRPr>
          </a:p>
        </p:txBody>
      </p:sp>
      <p:sp>
        <p:nvSpPr>
          <p:cNvPr id="25" name="Freeform 25"/>
          <p:cNvSpPr/>
          <p:nvPr/>
        </p:nvSpPr>
        <p:spPr>
          <a:xfrm>
            <a:off x="13433032" y="1983358"/>
            <a:ext cx="3233798" cy="2922545"/>
          </a:xfrm>
          <a:custGeom>
            <a:avLst/>
            <a:gdLst/>
            <a:ahLst/>
            <a:cxnLst/>
            <a:rect l="l" t="t" r="r" b="b"/>
            <a:pathLst>
              <a:path w="3233798" h="2922545">
                <a:moveTo>
                  <a:pt x="0" y="0"/>
                </a:moveTo>
                <a:lnTo>
                  <a:pt x="3233797" y="0"/>
                </a:lnTo>
                <a:lnTo>
                  <a:pt x="3233797" y="2922545"/>
                </a:lnTo>
                <a:lnTo>
                  <a:pt x="0" y="29225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1031">
        <p159:morph option="byObject"/>
      </p:transition>
    </mc:Choice>
    <mc:Fallback xmlns="">
      <p:transition spd="slow" advTm="3103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4502251" y="2723909"/>
            <a:ext cx="9283498" cy="0"/>
          </a:xfrm>
          <a:prstGeom prst="line">
            <a:avLst/>
          </a:prstGeom>
          <a:ln w="19050" cap="rnd">
            <a:solidFill>
              <a:srgbClr val="000000"/>
            </a:solidFill>
            <a:prstDash val="solid"/>
            <a:headEnd type="diamond" w="lg" len="lg"/>
            <a:tailEnd type="diamond" w="lg" len="lg"/>
          </a:ln>
        </p:spPr>
        <p:txBody>
          <a:bodyPr/>
          <a:lstStyle/>
          <a:p>
            <a:endParaRPr lang="en-US"/>
          </a:p>
        </p:txBody>
      </p:sp>
      <p:sp>
        <p:nvSpPr>
          <p:cNvPr id="4" name="Freeform 4"/>
          <p:cNvSpPr/>
          <p:nvPr/>
        </p:nvSpPr>
        <p:spPr>
          <a:xfrm>
            <a:off x="-633706" y="-616785"/>
            <a:ext cx="4224332" cy="4224332"/>
          </a:xfrm>
          <a:custGeom>
            <a:avLst/>
            <a:gdLst/>
            <a:ahLst/>
            <a:cxnLst/>
            <a:rect l="l" t="t" r="r" b="b"/>
            <a:pathLst>
              <a:path w="4224332" h="4224332">
                <a:moveTo>
                  <a:pt x="0" y="0"/>
                </a:moveTo>
                <a:lnTo>
                  <a:pt x="4224333" y="0"/>
                </a:lnTo>
                <a:lnTo>
                  <a:pt x="4224333" y="4224332"/>
                </a:lnTo>
                <a:lnTo>
                  <a:pt x="0" y="4224332"/>
                </a:lnTo>
                <a:lnTo>
                  <a:pt x="0" y="0"/>
                </a:lnTo>
                <a:close/>
              </a:path>
            </a:pathLst>
          </a:custGeom>
          <a:blipFill>
            <a:blip r:embed="rId2"/>
            <a:stretch>
              <a:fillRect/>
            </a:stretch>
          </a:blipFill>
        </p:spPr>
        <p:txBody>
          <a:bodyPr/>
          <a:lstStyle/>
          <a:p>
            <a:endParaRPr lang="en-US"/>
          </a:p>
        </p:txBody>
      </p:sp>
      <p:sp>
        <p:nvSpPr>
          <p:cNvPr id="5" name="TextBox 5"/>
          <p:cNvSpPr txBox="1"/>
          <p:nvPr/>
        </p:nvSpPr>
        <p:spPr>
          <a:xfrm>
            <a:off x="914400" y="816593"/>
            <a:ext cx="16071385" cy="2155718"/>
          </a:xfrm>
          <a:prstGeom prst="rect">
            <a:avLst/>
          </a:prstGeom>
        </p:spPr>
        <p:txBody>
          <a:bodyPr wrap="square" lIns="0" tIns="0" rIns="0" bIns="0" rtlCol="0" anchor="t">
            <a:spAutoFit/>
          </a:bodyPr>
          <a:lstStyle/>
          <a:p>
            <a:pPr algn="ctr">
              <a:lnSpc>
                <a:spcPts val="8205"/>
              </a:lnSpc>
            </a:pPr>
            <a:r>
              <a:rPr lang="en-US" sz="8200" dirty="0">
                <a:solidFill>
                  <a:srgbClr val="000000"/>
                </a:solidFill>
                <a:latin typeface="Le Jour Serif"/>
                <a:sym typeface="Le Jour Serif"/>
              </a:rPr>
              <a:t>Sales Territories and their managers...</a:t>
            </a:r>
            <a:endParaRPr lang="en-US" dirty="0"/>
          </a:p>
        </p:txBody>
      </p:sp>
      <p:sp>
        <p:nvSpPr>
          <p:cNvPr id="6" name="Freeform 6"/>
          <p:cNvSpPr/>
          <p:nvPr/>
        </p:nvSpPr>
        <p:spPr>
          <a:xfrm>
            <a:off x="2597615" y="1196505"/>
            <a:ext cx="2741690" cy="3054808"/>
          </a:xfrm>
          <a:custGeom>
            <a:avLst/>
            <a:gdLst/>
            <a:ahLst/>
            <a:cxnLst/>
            <a:rect l="l" t="t" r="r" b="b"/>
            <a:pathLst>
              <a:path w="2741690" h="3054808">
                <a:moveTo>
                  <a:pt x="0" y="0"/>
                </a:moveTo>
                <a:lnTo>
                  <a:pt x="2741690" y="0"/>
                </a:lnTo>
                <a:lnTo>
                  <a:pt x="2741690" y="3054809"/>
                </a:lnTo>
                <a:lnTo>
                  <a:pt x="0" y="30548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5486043" y="3803325"/>
            <a:ext cx="4224332" cy="4224332"/>
          </a:xfrm>
          <a:custGeom>
            <a:avLst/>
            <a:gdLst/>
            <a:ahLst/>
            <a:cxnLst/>
            <a:rect l="l" t="t" r="r" b="b"/>
            <a:pathLst>
              <a:path w="4224332" h="4224332">
                <a:moveTo>
                  <a:pt x="0" y="0"/>
                </a:moveTo>
                <a:lnTo>
                  <a:pt x="4224333" y="0"/>
                </a:lnTo>
                <a:lnTo>
                  <a:pt x="4224333" y="4224332"/>
                </a:lnTo>
                <a:lnTo>
                  <a:pt x="0" y="4224332"/>
                </a:lnTo>
                <a:lnTo>
                  <a:pt x="0" y="0"/>
                </a:lnTo>
                <a:close/>
              </a:path>
            </a:pathLst>
          </a:custGeom>
          <a:blipFill>
            <a:blip r:embed="rId2"/>
            <a:stretch>
              <a:fillRect/>
            </a:stretch>
          </a:blipFill>
        </p:spPr>
        <p:txBody>
          <a:bodyPr/>
          <a:lstStyle/>
          <a:p>
            <a:endParaRPr lang="en-US"/>
          </a:p>
        </p:txBody>
      </p:sp>
      <p:sp>
        <p:nvSpPr>
          <p:cNvPr id="8" name="Freeform 8"/>
          <p:cNvSpPr/>
          <p:nvPr/>
        </p:nvSpPr>
        <p:spPr>
          <a:xfrm>
            <a:off x="15286192" y="6756457"/>
            <a:ext cx="2741690" cy="3054808"/>
          </a:xfrm>
          <a:custGeom>
            <a:avLst/>
            <a:gdLst/>
            <a:ahLst/>
            <a:cxnLst/>
            <a:rect l="l" t="t" r="r" b="b"/>
            <a:pathLst>
              <a:path w="2741690" h="3054808">
                <a:moveTo>
                  <a:pt x="0" y="0"/>
                </a:moveTo>
                <a:lnTo>
                  <a:pt x="2741691" y="0"/>
                </a:lnTo>
                <a:lnTo>
                  <a:pt x="2741691" y="3054808"/>
                </a:lnTo>
                <a:lnTo>
                  <a:pt x="0" y="30548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23" name="Picture 22">
            <a:extLst>
              <a:ext uri="{FF2B5EF4-FFF2-40B4-BE49-F238E27FC236}">
                <a16:creationId xmlns:a16="http://schemas.microsoft.com/office/drawing/2014/main" id="{2562E535-902E-FA49-7958-4B03312E07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5438" y="3096416"/>
            <a:ext cx="6565950" cy="6409131"/>
          </a:xfrm>
          <a:prstGeom prst="rect">
            <a:avLst/>
          </a:prstGeom>
        </p:spPr>
      </p:pic>
      <p:pic>
        <p:nvPicPr>
          <p:cNvPr id="25" name="Picture 24">
            <a:extLst>
              <a:ext uri="{FF2B5EF4-FFF2-40B4-BE49-F238E27FC236}">
                <a16:creationId xmlns:a16="http://schemas.microsoft.com/office/drawing/2014/main" id="{4E78A337-701E-0911-6890-49DD7B6CBD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6238" y="3061276"/>
            <a:ext cx="7859496" cy="640913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8188">
        <p159:morph option="byObject"/>
      </p:transition>
    </mc:Choice>
    <mc:Fallback xmlns="">
      <p:transition spd="slow" advTm="2818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8489976" y="3231940"/>
            <a:ext cx="7885033" cy="0"/>
          </a:xfrm>
          <a:prstGeom prst="line">
            <a:avLst/>
          </a:prstGeom>
          <a:ln w="19050" cap="rnd">
            <a:solidFill>
              <a:srgbClr val="000000"/>
            </a:solidFill>
            <a:prstDash val="solid"/>
            <a:headEnd type="none" w="sm" len="sm"/>
            <a:tailEnd type="none" w="sm" len="sm"/>
          </a:ln>
        </p:spPr>
        <p:txBody>
          <a:bodyPr/>
          <a:lstStyle/>
          <a:p>
            <a:endParaRPr lang="en-US"/>
          </a:p>
        </p:txBody>
      </p:sp>
      <p:sp>
        <p:nvSpPr>
          <p:cNvPr id="3" name="TextBox 3"/>
          <p:cNvSpPr txBox="1"/>
          <p:nvPr/>
        </p:nvSpPr>
        <p:spPr>
          <a:xfrm>
            <a:off x="8171079" y="1168225"/>
            <a:ext cx="8647067" cy="2002471"/>
          </a:xfrm>
          <a:prstGeom prst="rect">
            <a:avLst/>
          </a:prstGeom>
        </p:spPr>
        <p:txBody>
          <a:bodyPr lIns="0" tIns="0" rIns="0" bIns="0" rtlCol="0" anchor="t">
            <a:spAutoFit/>
          </a:bodyPr>
          <a:lstStyle/>
          <a:p>
            <a:pPr algn="ctr">
              <a:lnSpc>
                <a:spcPts val="7481"/>
              </a:lnSpc>
            </a:pPr>
            <a:r>
              <a:rPr lang="en-US" sz="8300" dirty="0">
                <a:solidFill>
                  <a:srgbClr val="010101"/>
                </a:solidFill>
                <a:latin typeface="Le Jour Serif"/>
                <a:sym typeface="Le Jour Serif"/>
              </a:rPr>
              <a:t>Total Monthly </a:t>
            </a:r>
            <a:r>
              <a:rPr lang="en-US" sz="8300">
                <a:solidFill>
                  <a:srgbClr val="010101"/>
                </a:solidFill>
                <a:latin typeface="Le Jour Serif"/>
                <a:sym typeface="Le Jour Serif"/>
              </a:rPr>
              <a:t>Revenue</a:t>
            </a:r>
            <a:endParaRPr lang="en-US" sz="8300">
              <a:solidFill>
                <a:srgbClr val="010101"/>
              </a:solidFill>
              <a:latin typeface="Le Jour Serif"/>
            </a:endParaRPr>
          </a:p>
        </p:txBody>
      </p:sp>
      <p:sp>
        <p:nvSpPr>
          <p:cNvPr id="6" name="Freeform 6"/>
          <p:cNvSpPr/>
          <p:nvPr/>
        </p:nvSpPr>
        <p:spPr>
          <a:xfrm>
            <a:off x="4531723" y="4875873"/>
            <a:ext cx="3295946" cy="3672363"/>
          </a:xfrm>
          <a:custGeom>
            <a:avLst/>
            <a:gdLst/>
            <a:ahLst/>
            <a:cxnLst/>
            <a:rect l="l" t="t" r="r" b="b"/>
            <a:pathLst>
              <a:path w="3295946" h="3672363">
                <a:moveTo>
                  <a:pt x="0" y="0"/>
                </a:moveTo>
                <a:lnTo>
                  <a:pt x="3295946" y="0"/>
                </a:lnTo>
                <a:lnTo>
                  <a:pt x="3295946" y="3672363"/>
                </a:lnTo>
                <a:lnTo>
                  <a:pt x="0" y="367236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Freeform 8"/>
          <p:cNvSpPr/>
          <p:nvPr/>
        </p:nvSpPr>
        <p:spPr>
          <a:xfrm>
            <a:off x="16375673" y="1165996"/>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156188" y="8374673"/>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10" name="Picture 9" descr="A graph with orange lines&#10;&#10;AI-generated content may be incorrect.">
            <a:extLst>
              <a:ext uri="{FF2B5EF4-FFF2-40B4-BE49-F238E27FC236}">
                <a16:creationId xmlns:a16="http://schemas.microsoft.com/office/drawing/2014/main" id="{386CF59D-F995-512E-C8D4-27647A64C9DD}"/>
              </a:ext>
            </a:extLst>
          </p:cNvPr>
          <p:cNvPicPr>
            <a:picLocks noChangeAspect="1"/>
          </p:cNvPicPr>
          <p:nvPr/>
        </p:nvPicPr>
        <p:blipFill>
          <a:blip r:embed="rId4"/>
          <a:stretch>
            <a:fillRect/>
          </a:stretch>
        </p:blipFill>
        <p:spPr>
          <a:xfrm>
            <a:off x="641350" y="563563"/>
            <a:ext cx="6083300" cy="4194175"/>
          </a:xfrm>
          <a:prstGeom prst="rect">
            <a:avLst/>
          </a:prstGeom>
        </p:spPr>
      </p:pic>
      <p:pic>
        <p:nvPicPr>
          <p:cNvPr id="11" name="Picture 10" descr="A graph with a line&#10;&#10;AI-generated content may be incorrect.">
            <a:extLst>
              <a:ext uri="{FF2B5EF4-FFF2-40B4-BE49-F238E27FC236}">
                <a16:creationId xmlns:a16="http://schemas.microsoft.com/office/drawing/2014/main" id="{24D4D745-9B35-8F8E-117E-7DF247859432}"/>
              </a:ext>
            </a:extLst>
          </p:cNvPr>
          <p:cNvPicPr>
            <a:picLocks noChangeAspect="1"/>
          </p:cNvPicPr>
          <p:nvPr/>
        </p:nvPicPr>
        <p:blipFill>
          <a:blip r:embed="rId5"/>
          <a:stretch>
            <a:fillRect/>
          </a:stretch>
        </p:blipFill>
        <p:spPr>
          <a:xfrm>
            <a:off x="2035107" y="5531334"/>
            <a:ext cx="6124575" cy="4187825"/>
          </a:xfrm>
          <a:prstGeom prst="rect">
            <a:avLst/>
          </a:prstGeom>
        </p:spPr>
      </p:pic>
      <p:sp>
        <p:nvSpPr>
          <p:cNvPr id="15" name="TextBox 3">
            <a:extLst>
              <a:ext uri="{FF2B5EF4-FFF2-40B4-BE49-F238E27FC236}">
                <a16:creationId xmlns:a16="http://schemas.microsoft.com/office/drawing/2014/main" id="{1782B34D-44CB-6E17-7FDE-8858F84EB990}"/>
              </a:ext>
            </a:extLst>
          </p:cNvPr>
          <p:cNvSpPr txBox="1"/>
          <p:nvPr/>
        </p:nvSpPr>
        <p:spPr>
          <a:xfrm>
            <a:off x="8443085" y="3462889"/>
            <a:ext cx="9203565" cy="1835246"/>
          </a:xfrm>
          <a:prstGeom prst="rect">
            <a:avLst/>
          </a:prstGeom>
        </p:spPr>
        <p:txBody>
          <a:bodyPr wrap="square" lIns="0" tIns="0" rIns="0" bIns="0" rtlCol="0" anchor="t">
            <a:spAutoFit/>
          </a:bodyPr>
          <a:lstStyle/>
          <a:p>
            <a:pPr marL="571500" indent="-571500" algn="ctr">
              <a:lnSpc>
                <a:spcPts val="7481"/>
              </a:lnSpc>
              <a:buFont typeface="Wingdings"/>
              <a:buChar char="v"/>
            </a:pPr>
            <a:r>
              <a:rPr lang="en-US" sz="4400" dirty="0">
                <a:solidFill>
                  <a:srgbClr val="010101"/>
                </a:solidFill>
                <a:latin typeface="Forum"/>
                <a:sym typeface="Le Jour Serif"/>
              </a:rPr>
              <a:t>October was the highest at $652,587.32 for Colorado </a:t>
            </a:r>
            <a:endParaRPr lang="en-US" sz="4400" dirty="0">
              <a:solidFill>
                <a:srgbClr val="010101"/>
              </a:solidFill>
              <a:latin typeface="Forum"/>
            </a:endParaRPr>
          </a:p>
        </p:txBody>
      </p:sp>
      <p:sp>
        <p:nvSpPr>
          <p:cNvPr id="16" name="TextBox 3">
            <a:extLst>
              <a:ext uri="{FF2B5EF4-FFF2-40B4-BE49-F238E27FC236}">
                <a16:creationId xmlns:a16="http://schemas.microsoft.com/office/drawing/2014/main" id="{BFCD8E56-8A30-B2A9-BA43-C4A81CDEA0C8}"/>
              </a:ext>
            </a:extLst>
          </p:cNvPr>
          <p:cNvSpPr txBox="1"/>
          <p:nvPr/>
        </p:nvSpPr>
        <p:spPr>
          <a:xfrm>
            <a:off x="8735046" y="6215758"/>
            <a:ext cx="8619642" cy="1835246"/>
          </a:xfrm>
          <a:prstGeom prst="rect">
            <a:avLst/>
          </a:prstGeom>
        </p:spPr>
        <p:txBody>
          <a:bodyPr wrap="square" lIns="0" tIns="0" rIns="0" bIns="0" rtlCol="0" anchor="t">
            <a:spAutoFit/>
          </a:bodyPr>
          <a:lstStyle/>
          <a:p>
            <a:pPr marL="571500" indent="-571500" algn="ctr">
              <a:lnSpc>
                <a:spcPts val="7481"/>
              </a:lnSpc>
              <a:buFont typeface="Wingdings"/>
              <a:buChar char="v"/>
            </a:pPr>
            <a:r>
              <a:rPr lang="en-US" sz="4400" dirty="0">
                <a:solidFill>
                  <a:srgbClr val="010101"/>
                </a:solidFill>
                <a:latin typeface="Forum"/>
                <a:sym typeface="Le Jour Serif"/>
              </a:rPr>
              <a:t>October was the highest at </a:t>
            </a:r>
            <a:r>
              <a:rPr lang="en-US" sz="4400" dirty="0">
                <a:solidFill>
                  <a:srgbClr val="010101"/>
                </a:solidFill>
                <a:latin typeface="Forum"/>
                <a:ea typeface="+mn-lt"/>
                <a:cs typeface="+mn-lt"/>
                <a:sym typeface="Le Jour Serif"/>
              </a:rPr>
              <a:t>$574,303.55</a:t>
            </a:r>
            <a:r>
              <a:rPr lang="en-US" sz="4400" dirty="0">
                <a:solidFill>
                  <a:srgbClr val="010101"/>
                </a:solidFill>
                <a:latin typeface="Forum"/>
                <a:sym typeface="Le Jour Serif"/>
              </a:rPr>
              <a:t> for Massachusetts </a:t>
            </a:r>
            <a:endParaRPr lang="en-US" sz="4400" dirty="0">
              <a:solidFill>
                <a:srgbClr val="010101"/>
              </a:solidFill>
              <a:latin typeface="Forum"/>
            </a:endParaRPr>
          </a:p>
        </p:txBody>
      </p:sp>
      <p:pic>
        <p:nvPicPr>
          <p:cNvPr id="12" name="Picture 11">
            <a:extLst>
              <a:ext uri="{FF2B5EF4-FFF2-40B4-BE49-F238E27FC236}">
                <a16:creationId xmlns:a16="http://schemas.microsoft.com/office/drawing/2014/main" id="{6CA4BAFC-0221-FC6F-D221-ED42D0BB37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80253" y="5298135"/>
            <a:ext cx="7478169" cy="933580"/>
          </a:xfrm>
          <a:prstGeom prst="rect">
            <a:avLst/>
          </a:prstGeom>
        </p:spPr>
      </p:pic>
      <p:pic>
        <p:nvPicPr>
          <p:cNvPr id="18" name="Picture 17">
            <a:extLst>
              <a:ext uri="{FF2B5EF4-FFF2-40B4-BE49-F238E27FC236}">
                <a16:creationId xmlns:a16="http://schemas.microsoft.com/office/drawing/2014/main" id="{531E7C5B-C9B7-59F5-082C-17865CB2EB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80253" y="8153105"/>
            <a:ext cx="7459116" cy="97168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1524">
        <p159:morph option="byObject"/>
      </p:transition>
    </mc:Choice>
    <mc:Fallback xmlns="">
      <p:transition spd="slow" advTm="41524">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3569233" y="4142115"/>
            <a:ext cx="11149535" cy="0"/>
          </a:xfrm>
          <a:prstGeom prst="line">
            <a:avLst/>
          </a:prstGeom>
          <a:ln w="19050" cap="rnd">
            <a:solidFill>
              <a:srgbClr val="000000"/>
            </a:solidFill>
            <a:prstDash val="solid"/>
            <a:headEnd type="none" w="sm" len="sm"/>
            <a:tailEnd type="none" w="sm" len="sm"/>
          </a:ln>
        </p:spPr>
        <p:txBody>
          <a:bodyPr/>
          <a:lstStyle/>
          <a:p>
            <a:endParaRPr lang="en-US"/>
          </a:p>
        </p:txBody>
      </p:sp>
      <p:sp>
        <p:nvSpPr>
          <p:cNvPr id="3" name="Freeform 3"/>
          <p:cNvSpPr/>
          <p:nvPr/>
        </p:nvSpPr>
        <p:spPr>
          <a:xfrm>
            <a:off x="345057" y="6332005"/>
            <a:ext cx="4224332" cy="4224332"/>
          </a:xfrm>
          <a:custGeom>
            <a:avLst/>
            <a:gdLst/>
            <a:ahLst/>
            <a:cxnLst/>
            <a:rect l="l" t="t" r="r" b="b"/>
            <a:pathLst>
              <a:path w="4224332" h="4224332">
                <a:moveTo>
                  <a:pt x="0" y="0"/>
                </a:moveTo>
                <a:lnTo>
                  <a:pt x="4224332" y="0"/>
                </a:lnTo>
                <a:lnTo>
                  <a:pt x="4224332" y="4224332"/>
                </a:lnTo>
                <a:lnTo>
                  <a:pt x="0" y="4224332"/>
                </a:lnTo>
                <a:lnTo>
                  <a:pt x="0" y="0"/>
                </a:lnTo>
                <a:close/>
              </a:path>
            </a:pathLst>
          </a:custGeom>
          <a:blipFill>
            <a:blip r:embed="rId2"/>
            <a:stretch>
              <a:fillRect/>
            </a:stretch>
          </a:blipFill>
        </p:spPr>
        <p:txBody>
          <a:bodyPr/>
          <a:lstStyle/>
          <a:p>
            <a:endParaRPr lang="en-US"/>
          </a:p>
        </p:txBody>
      </p:sp>
      <p:sp>
        <p:nvSpPr>
          <p:cNvPr id="19" name="TextBox 19"/>
          <p:cNvSpPr txBox="1"/>
          <p:nvPr/>
        </p:nvSpPr>
        <p:spPr>
          <a:xfrm>
            <a:off x="2142337" y="1963868"/>
            <a:ext cx="14562402" cy="2497479"/>
          </a:xfrm>
          <a:prstGeom prst="rect">
            <a:avLst/>
          </a:prstGeom>
        </p:spPr>
        <p:txBody>
          <a:bodyPr wrap="square" lIns="0" tIns="0" rIns="0" bIns="0" rtlCol="0" anchor="t">
            <a:spAutoFit/>
          </a:bodyPr>
          <a:lstStyle/>
          <a:p>
            <a:pPr algn="ctr">
              <a:lnSpc>
                <a:spcPts val="9500"/>
              </a:lnSpc>
            </a:pPr>
            <a:r>
              <a:rPr lang="en-US" sz="9500">
                <a:solidFill>
                  <a:srgbClr val="000000"/>
                </a:solidFill>
                <a:latin typeface="Le Jour Serif"/>
                <a:sym typeface="Le Jour Serif"/>
              </a:rPr>
              <a:t>For Each Territories Stores</a:t>
            </a:r>
            <a:endParaRPr lang="en-US" sz="9500">
              <a:latin typeface="Le Jour Serif"/>
            </a:endParaRPr>
          </a:p>
        </p:txBody>
      </p:sp>
      <p:sp>
        <p:nvSpPr>
          <p:cNvPr id="20" name="Freeform 20"/>
          <p:cNvSpPr/>
          <p:nvPr/>
        </p:nvSpPr>
        <p:spPr>
          <a:xfrm>
            <a:off x="14601788" y="-582178"/>
            <a:ext cx="4224332" cy="4224332"/>
          </a:xfrm>
          <a:custGeom>
            <a:avLst/>
            <a:gdLst/>
            <a:ahLst/>
            <a:cxnLst/>
            <a:rect l="l" t="t" r="r" b="b"/>
            <a:pathLst>
              <a:path w="4224332" h="4224332">
                <a:moveTo>
                  <a:pt x="0" y="0"/>
                </a:moveTo>
                <a:lnTo>
                  <a:pt x="4224333" y="0"/>
                </a:lnTo>
                <a:lnTo>
                  <a:pt x="4224333" y="4224333"/>
                </a:lnTo>
                <a:lnTo>
                  <a:pt x="0" y="4224333"/>
                </a:lnTo>
                <a:lnTo>
                  <a:pt x="0" y="0"/>
                </a:lnTo>
                <a:close/>
              </a:path>
            </a:pathLst>
          </a:custGeom>
          <a:blipFill>
            <a:blip r:embed="rId2"/>
            <a:stretch>
              <a:fillRect/>
            </a:stretch>
          </a:blipFill>
        </p:spPr>
        <p:txBody>
          <a:bodyPr/>
          <a:lstStyle/>
          <a:p>
            <a:endParaRPr lang="en-US"/>
          </a:p>
        </p:txBody>
      </p:sp>
      <p:sp>
        <p:nvSpPr>
          <p:cNvPr id="21" name="Freeform 21"/>
          <p:cNvSpPr/>
          <p:nvPr/>
        </p:nvSpPr>
        <p:spPr>
          <a:xfrm>
            <a:off x="14629946" y="1962945"/>
            <a:ext cx="2741690" cy="3054808"/>
          </a:xfrm>
          <a:custGeom>
            <a:avLst/>
            <a:gdLst/>
            <a:ahLst/>
            <a:cxnLst/>
            <a:rect l="l" t="t" r="r" b="b"/>
            <a:pathLst>
              <a:path w="2741690" h="3054808">
                <a:moveTo>
                  <a:pt x="0" y="0"/>
                </a:moveTo>
                <a:lnTo>
                  <a:pt x="2741691" y="0"/>
                </a:lnTo>
                <a:lnTo>
                  <a:pt x="2741691" y="3054808"/>
                </a:lnTo>
                <a:lnTo>
                  <a:pt x="0" y="30548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Freeform 22"/>
          <p:cNvSpPr/>
          <p:nvPr/>
        </p:nvSpPr>
        <p:spPr>
          <a:xfrm>
            <a:off x="6816" y="5372417"/>
            <a:ext cx="2741690" cy="3054808"/>
          </a:xfrm>
          <a:custGeom>
            <a:avLst/>
            <a:gdLst/>
            <a:ahLst/>
            <a:cxnLst/>
            <a:rect l="l" t="t" r="r" b="b"/>
            <a:pathLst>
              <a:path w="2741690" h="3054808">
                <a:moveTo>
                  <a:pt x="0" y="0"/>
                </a:moveTo>
                <a:lnTo>
                  <a:pt x="2741691" y="0"/>
                </a:lnTo>
                <a:lnTo>
                  <a:pt x="2741691" y="3054809"/>
                </a:lnTo>
                <a:lnTo>
                  <a:pt x="0" y="30548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TextBox 24"/>
          <p:cNvSpPr txBox="1"/>
          <p:nvPr/>
        </p:nvSpPr>
        <p:spPr>
          <a:xfrm>
            <a:off x="340870" y="552286"/>
            <a:ext cx="10574327" cy="1411925"/>
          </a:xfrm>
          <a:prstGeom prst="rect">
            <a:avLst/>
          </a:prstGeom>
        </p:spPr>
        <p:txBody>
          <a:bodyPr wrap="square" lIns="0" tIns="0" rIns="0" bIns="0" rtlCol="0" anchor="t">
            <a:spAutoFit/>
          </a:bodyPr>
          <a:lstStyle/>
          <a:p>
            <a:pPr algn="ctr">
              <a:lnSpc>
                <a:spcPts val="10499"/>
              </a:lnSpc>
            </a:pPr>
            <a:r>
              <a:rPr lang="en-US" sz="10450">
                <a:solidFill>
                  <a:srgbClr val="000000"/>
                </a:solidFill>
                <a:latin typeface="Parfumerie Script Pro"/>
                <a:sym typeface="Parfumerie Script Pro"/>
              </a:rPr>
              <a:t>Top Sales Performance</a:t>
            </a:r>
            <a:endParaRPr lang="en-US"/>
          </a:p>
        </p:txBody>
      </p:sp>
      <p:sp>
        <p:nvSpPr>
          <p:cNvPr id="25" name="TextBox 25"/>
          <p:cNvSpPr txBox="1"/>
          <p:nvPr/>
        </p:nvSpPr>
        <p:spPr>
          <a:xfrm>
            <a:off x="6356009" y="4689320"/>
            <a:ext cx="4579052" cy="1802416"/>
          </a:xfrm>
          <a:prstGeom prst="rect">
            <a:avLst/>
          </a:prstGeom>
        </p:spPr>
        <p:txBody>
          <a:bodyPr wrap="square" lIns="0" tIns="0" rIns="0" bIns="0" rtlCol="0" anchor="t">
            <a:spAutoFit/>
          </a:bodyPr>
          <a:lstStyle/>
          <a:p>
            <a:pPr marL="457200" indent="-457200" algn="ctr">
              <a:lnSpc>
                <a:spcPts val="3452"/>
              </a:lnSpc>
              <a:buFont typeface="Wingdings"/>
              <a:buChar char="v"/>
            </a:pPr>
            <a:r>
              <a:rPr lang="en-US" sz="3450" spc="103" dirty="0">
                <a:solidFill>
                  <a:srgbClr val="000000"/>
                </a:solidFill>
                <a:latin typeface="Forum"/>
                <a:sym typeface="Forum"/>
              </a:rPr>
              <a:t>Store 704 , which is Denver, had Top Sales Performance for Colorado </a:t>
            </a:r>
            <a:endParaRPr lang="en-US" sz="3450" spc="103" dirty="0">
              <a:latin typeface="Forum"/>
            </a:endParaRPr>
          </a:p>
        </p:txBody>
      </p:sp>
      <p:sp>
        <p:nvSpPr>
          <p:cNvPr id="26" name="TextBox 26"/>
          <p:cNvSpPr txBox="1"/>
          <p:nvPr/>
        </p:nvSpPr>
        <p:spPr>
          <a:xfrm>
            <a:off x="6581145" y="6900777"/>
            <a:ext cx="4131792" cy="2250744"/>
          </a:xfrm>
          <a:prstGeom prst="rect">
            <a:avLst/>
          </a:prstGeom>
        </p:spPr>
        <p:txBody>
          <a:bodyPr wrap="square" lIns="0" tIns="0" rIns="0" bIns="0" rtlCol="0" anchor="t">
            <a:spAutoFit/>
          </a:bodyPr>
          <a:lstStyle/>
          <a:p>
            <a:pPr marL="457200" indent="-457200" algn="ctr">
              <a:lnSpc>
                <a:spcPts val="3452"/>
              </a:lnSpc>
              <a:buFont typeface="Wingdings"/>
              <a:buChar char="v"/>
            </a:pPr>
            <a:r>
              <a:rPr lang="en-US" sz="3450" spc="103" dirty="0">
                <a:solidFill>
                  <a:srgbClr val="000000"/>
                </a:solidFill>
                <a:latin typeface="Forum"/>
                <a:sym typeface="Forum"/>
              </a:rPr>
              <a:t>Store 817, which is Worcester, had the Top Sales Performance for Massachusetts</a:t>
            </a:r>
            <a:endParaRPr lang="en-US" dirty="0">
              <a:ea typeface="Calibri"/>
              <a:cs typeface="Calibri"/>
            </a:endParaRPr>
          </a:p>
        </p:txBody>
      </p:sp>
      <p:pic>
        <p:nvPicPr>
          <p:cNvPr id="4" name="Picture 3" descr="A graph of sales&#10;&#10;AI-generated content may be incorrect.">
            <a:extLst>
              <a:ext uri="{FF2B5EF4-FFF2-40B4-BE49-F238E27FC236}">
                <a16:creationId xmlns:a16="http://schemas.microsoft.com/office/drawing/2014/main" id="{5A3563F3-4589-398D-3919-3556F6B6D8C4}"/>
              </a:ext>
            </a:extLst>
          </p:cNvPr>
          <p:cNvPicPr>
            <a:picLocks noChangeAspect="1"/>
          </p:cNvPicPr>
          <p:nvPr/>
        </p:nvPicPr>
        <p:blipFill>
          <a:blip r:embed="rId4"/>
          <a:stretch>
            <a:fillRect/>
          </a:stretch>
        </p:blipFill>
        <p:spPr>
          <a:xfrm>
            <a:off x="349319" y="4467434"/>
            <a:ext cx="6047547" cy="5265665"/>
          </a:xfrm>
          <a:prstGeom prst="rect">
            <a:avLst/>
          </a:prstGeom>
        </p:spPr>
      </p:pic>
      <p:pic>
        <p:nvPicPr>
          <p:cNvPr id="6" name="Picture 5" descr="A graph of sales&#10;&#10;AI-generated content may be incorrect.">
            <a:extLst>
              <a:ext uri="{FF2B5EF4-FFF2-40B4-BE49-F238E27FC236}">
                <a16:creationId xmlns:a16="http://schemas.microsoft.com/office/drawing/2014/main" id="{DB2CDBD8-5820-E55E-F5E6-C8947E1D1523}"/>
              </a:ext>
            </a:extLst>
          </p:cNvPr>
          <p:cNvPicPr>
            <a:picLocks noChangeAspect="1"/>
          </p:cNvPicPr>
          <p:nvPr/>
        </p:nvPicPr>
        <p:blipFill>
          <a:blip r:embed="rId5"/>
          <a:stretch>
            <a:fillRect/>
          </a:stretch>
        </p:blipFill>
        <p:spPr>
          <a:xfrm>
            <a:off x="11475761" y="4464118"/>
            <a:ext cx="5996194" cy="523502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3331">
        <p159:morph option="byObject"/>
      </p:transition>
    </mc:Choice>
    <mc:Fallback xmlns="">
      <p:transition spd="slow" advTm="5333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4577966" y="3424098"/>
            <a:ext cx="9206611" cy="0"/>
          </a:xfrm>
          <a:prstGeom prst="line">
            <a:avLst/>
          </a:prstGeom>
          <a:ln w="19050" cap="rnd">
            <a:solidFill>
              <a:srgbClr val="000000"/>
            </a:solidFill>
            <a:prstDash val="solid"/>
            <a:headEnd type="none" w="sm" len="sm"/>
            <a:tailEnd type="none" w="sm" len="sm"/>
          </a:ln>
        </p:spPr>
        <p:txBody>
          <a:bodyPr/>
          <a:lstStyle/>
          <a:p>
            <a:endParaRPr lang="en-US"/>
          </a:p>
        </p:txBody>
      </p:sp>
      <p:sp>
        <p:nvSpPr>
          <p:cNvPr id="3" name="Freeform 3"/>
          <p:cNvSpPr/>
          <p:nvPr/>
        </p:nvSpPr>
        <p:spPr>
          <a:xfrm>
            <a:off x="12050869" y="1953584"/>
            <a:ext cx="2741690" cy="3054808"/>
          </a:xfrm>
          <a:custGeom>
            <a:avLst/>
            <a:gdLst/>
            <a:ahLst/>
            <a:cxnLst/>
            <a:rect l="l" t="t" r="r" b="b"/>
            <a:pathLst>
              <a:path w="2741690" h="3054808">
                <a:moveTo>
                  <a:pt x="0" y="0"/>
                </a:moveTo>
                <a:lnTo>
                  <a:pt x="2741691" y="0"/>
                </a:lnTo>
                <a:lnTo>
                  <a:pt x="2741691" y="3054808"/>
                </a:lnTo>
                <a:lnTo>
                  <a:pt x="0" y="30548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535269" y="7969437"/>
            <a:ext cx="2741690" cy="3054808"/>
          </a:xfrm>
          <a:custGeom>
            <a:avLst/>
            <a:gdLst/>
            <a:ahLst/>
            <a:cxnLst/>
            <a:rect l="l" t="t" r="r" b="b"/>
            <a:pathLst>
              <a:path w="2741690" h="3054808">
                <a:moveTo>
                  <a:pt x="0" y="0"/>
                </a:moveTo>
                <a:lnTo>
                  <a:pt x="2741691" y="0"/>
                </a:lnTo>
                <a:lnTo>
                  <a:pt x="2741691" y="3054809"/>
                </a:lnTo>
                <a:lnTo>
                  <a:pt x="0" y="30548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263203" y="740463"/>
            <a:ext cx="2741690" cy="3054808"/>
          </a:xfrm>
          <a:custGeom>
            <a:avLst/>
            <a:gdLst/>
            <a:ahLst/>
            <a:cxnLst/>
            <a:rect l="l" t="t" r="r" b="b"/>
            <a:pathLst>
              <a:path w="2741690" h="3054808">
                <a:moveTo>
                  <a:pt x="0" y="0"/>
                </a:moveTo>
                <a:lnTo>
                  <a:pt x="2741690" y="0"/>
                </a:lnTo>
                <a:lnTo>
                  <a:pt x="2741690" y="3054808"/>
                </a:lnTo>
                <a:lnTo>
                  <a:pt x="0" y="30548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5931016" y="5139901"/>
            <a:ext cx="2741690" cy="3054808"/>
          </a:xfrm>
          <a:custGeom>
            <a:avLst/>
            <a:gdLst/>
            <a:ahLst/>
            <a:cxnLst/>
            <a:rect l="l" t="t" r="r" b="b"/>
            <a:pathLst>
              <a:path w="2741690" h="3054808">
                <a:moveTo>
                  <a:pt x="0" y="0"/>
                </a:moveTo>
                <a:lnTo>
                  <a:pt x="2741690" y="0"/>
                </a:lnTo>
                <a:lnTo>
                  <a:pt x="2741690" y="3054809"/>
                </a:lnTo>
                <a:lnTo>
                  <a:pt x="0" y="30548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Freeform 7"/>
          <p:cNvSpPr/>
          <p:nvPr/>
        </p:nvSpPr>
        <p:spPr>
          <a:xfrm>
            <a:off x="13832991" y="1651771"/>
            <a:ext cx="4175961" cy="2138440"/>
          </a:xfrm>
          <a:custGeom>
            <a:avLst/>
            <a:gdLst/>
            <a:ahLst/>
            <a:cxnLst/>
            <a:rect l="l" t="t" r="r" b="b"/>
            <a:pathLst>
              <a:path w="4175961" h="2138440">
                <a:moveTo>
                  <a:pt x="0" y="0"/>
                </a:moveTo>
                <a:lnTo>
                  <a:pt x="4175962" y="0"/>
                </a:lnTo>
                <a:lnTo>
                  <a:pt x="4175962" y="2138440"/>
                </a:lnTo>
                <a:lnTo>
                  <a:pt x="0" y="213844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363907" y="7436398"/>
            <a:ext cx="5083733" cy="2395709"/>
          </a:xfrm>
          <a:custGeom>
            <a:avLst/>
            <a:gdLst/>
            <a:ahLst/>
            <a:cxnLst/>
            <a:rect l="l" t="t" r="r" b="b"/>
            <a:pathLst>
              <a:path w="5083733" h="2395709">
                <a:moveTo>
                  <a:pt x="0" y="0"/>
                </a:moveTo>
                <a:lnTo>
                  <a:pt x="5083733" y="0"/>
                </a:lnTo>
                <a:lnTo>
                  <a:pt x="5083733" y="2395710"/>
                </a:lnTo>
                <a:lnTo>
                  <a:pt x="0" y="23957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3796542" y="2102500"/>
            <a:ext cx="10694916" cy="1748556"/>
          </a:xfrm>
          <a:prstGeom prst="rect">
            <a:avLst/>
          </a:prstGeom>
        </p:spPr>
        <p:txBody>
          <a:bodyPr lIns="0" tIns="0" rIns="0" bIns="0" rtlCol="0" anchor="t">
            <a:spAutoFit/>
          </a:bodyPr>
          <a:lstStyle/>
          <a:p>
            <a:pPr algn="ctr">
              <a:lnSpc>
                <a:spcPts val="12989"/>
              </a:lnSpc>
            </a:pPr>
            <a:r>
              <a:rPr lang="en-US" sz="12950">
                <a:solidFill>
                  <a:srgbClr val="000000"/>
                </a:solidFill>
                <a:latin typeface="Le Jour Serif"/>
                <a:ea typeface="Le Jour Serif"/>
                <a:cs typeface="Le Jour Serif"/>
                <a:sym typeface="Le Jour Serif"/>
              </a:rPr>
              <a:t>Customers</a:t>
            </a:r>
            <a:endParaRPr lang="en-US" sz="12950">
              <a:solidFill>
                <a:srgbClr val="000000"/>
              </a:solidFill>
              <a:latin typeface="Le Jour Serif"/>
              <a:ea typeface="Le Jour Serif"/>
              <a:cs typeface="Le Jour Serif"/>
            </a:endParaRPr>
          </a:p>
        </p:txBody>
      </p:sp>
      <p:sp>
        <p:nvSpPr>
          <p:cNvPr id="10" name="TextBox 10"/>
          <p:cNvSpPr txBox="1"/>
          <p:nvPr/>
        </p:nvSpPr>
        <p:spPr>
          <a:xfrm>
            <a:off x="3796542" y="317313"/>
            <a:ext cx="10694916" cy="2149194"/>
          </a:xfrm>
          <a:prstGeom prst="rect">
            <a:avLst/>
          </a:prstGeom>
        </p:spPr>
        <p:txBody>
          <a:bodyPr lIns="0" tIns="0" rIns="0" bIns="0" rtlCol="0" anchor="t">
            <a:spAutoFit/>
          </a:bodyPr>
          <a:lstStyle/>
          <a:p>
            <a:pPr algn="ctr">
              <a:lnSpc>
                <a:spcPts val="15988"/>
              </a:lnSpc>
            </a:pPr>
            <a:r>
              <a:rPr lang="en-US" sz="15950">
                <a:solidFill>
                  <a:srgbClr val="000000"/>
                </a:solidFill>
                <a:latin typeface="Parfumerie Script Pro"/>
                <a:ea typeface="Parfumerie Script Pro"/>
                <a:cs typeface="Parfumerie Script Pro"/>
                <a:sym typeface="Parfumerie Script Pro"/>
              </a:rPr>
              <a:t>Top</a:t>
            </a:r>
            <a:endParaRPr lang="en-US" sz="15988">
              <a:solidFill>
                <a:srgbClr val="000000"/>
              </a:solidFill>
              <a:latin typeface="Parfumerie Script Pro"/>
              <a:ea typeface="Parfumerie Script Pro"/>
              <a:cs typeface="Parfumerie Script Pro"/>
              <a:sym typeface="Parfumerie Script Pro"/>
            </a:endParaRPr>
          </a:p>
        </p:txBody>
      </p:sp>
      <p:sp>
        <p:nvSpPr>
          <p:cNvPr id="12" name="Freeform 12"/>
          <p:cNvSpPr/>
          <p:nvPr/>
        </p:nvSpPr>
        <p:spPr>
          <a:xfrm>
            <a:off x="1099119" y="828957"/>
            <a:ext cx="1645627" cy="1645627"/>
          </a:xfrm>
          <a:custGeom>
            <a:avLst/>
            <a:gdLst/>
            <a:ahLst/>
            <a:cxnLst/>
            <a:rect l="l" t="t" r="r" b="b"/>
            <a:pathLst>
              <a:path w="1645627" h="1645627">
                <a:moveTo>
                  <a:pt x="0" y="0"/>
                </a:moveTo>
                <a:lnTo>
                  <a:pt x="1645627" y="0"/>
                </a:lnTo>
                <a:lnTo>
                  <a:pt x="1645627" y="1645627"/>
                </a:lnTo>
                <a:lnTo>
                  <a:pt x="0" y="1645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8363846" y="4945067"/>
            <a:ext cx="1645627" cy="1645627"/>
          </a:xfrm>
          <a:custGeom>
            <a:avLst/>
            <a:gdLst/>
            <a:ahLst/>
            <a:cxnLst/>
            <a:rect l="l" t="t" r="r" b="b"/>
            <a:pathLst>
              <a:path w="1645627" h="1645627">
                <a:moveTo>
                  <a:pt x="0" y="0"/>
                </a:moveTo>
                <a:lnTo>
                  <a:pt x="1645627" y="0"/>
                </a:lnTo>
                <a:lnTo>
                  <a:pt x="1645627" y="1645627"/>
                </a:lnTo>
                <a:lnTo>
                  <a:pt x="0" y="1645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1" name="Picture 10" descr="A graph of sales&#10;&#10;AI-generated content may be incorrect.">
            <a:extLst>
              <a:ext uri="{FF2B5EF4-FFF2-40B4-BE49-F238E27FC236}">
                <a16:creationId xmlns:a16="http://schemas.microsoft.com/office/drawing/2014/main" id="{4D5C605B-87EE-3CD3-A592-0FED1CA704D3}"/>
              </a:ext>
            </a:extLst>
          </p:cNvPr>
          <p:cNvPicPr>
            <a:picLocks noChangeAspect="1"/>
          </p:cNvPicPr>
          <p:nvPr/>
        </p:nvPicPr>
        <p:blipFill>
          <a:blip r:embed="rId6"/>
          <a:stretch>
            <a:fillRect/>
          </a:stretch>
        </p:blipFill>
        <p:spPr>
          <a:xfrm>
            <a:off x="379949" y="3639591"/>
            <a:ext cx="7198514" cy="4540789"/>
          </a:xfrm>
          <a:prstGeom prst="rect">
            <a:avLst/>
          </a:prstGeom>
        </p:spPr>
      </p:pic>
      <p:pic>
        <p:nvPicPr>
          <p:cNvPr id="21" name="Picture 20">
            <a:extLst>
              <a:ext uri="{FF2B5EF4-FFF2-40B4-BE49-F238E27FC236}">
                <a16:creationId xmlns:a16="http://schemas.microsoft.com/office/drawing/2014/main" id="{CE0EDEF4-B3A6-A769-720F-75F7A7E2C2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09539" y="3544995"/>
            <a:ext cx="6582426" cy="4540788"/>
          </a:xfrm>
          <a:prstGeom prst="rect">
            <a:avLst/>
          </a:prstGeom>
        </p:spPr>
      </p:pic>
      <p:pic>
        <p:nvPicPr>
          <p:cNvPr id="19" name="Picture 18">
            <a:extLst>
              <a:ext uri="{FF2B5EF4-FFF2-40B4-BE49-F238E27FC236}">
                <a16:creationId xmlns:a16="http://schemas.microsoft.com/office/drawing/2014/main" id="{62F39EFE-6C3E-B71A-F1FA-5FB697B9C0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7042" y="8179493"/>
            <a:ext cx="7846226" cy="1790194"/>
          </a:xfrm>
          <a:prstGeom prst="rect">
            <a:avLst/>
          </a:prstGeom>
        </p:spPr>
      </p:pic>
      <p:pic>
        <p:nvPicPr>
          <p:cNvPr id="22" name="Picture 21">
            <a:extLst>
              <a:ext uri="{FF2B5EF4-FFF2-40B4-BE49-F238E27FC236}">
                <a16:creationId xmlns:a16="http://schemas.microsoft.com/office/drawing/2014/main" id="{B3289938-4DFF-A911-F9C4-5B366EB776C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639019" y="7935348"/>
            <a:ext cx="7662842" cy="21815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3926">
        <p159:morph option="byObject"/>
      </p:transition>
    </mc:Choice>
    <mc:Fallback xmlns="">
      <p:transition spd="slow" advTm="53926">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5782713" y="2325762"/>
            <a:ext cx="7144317" cy="0"/>
          </a:xfrm>
          <a:prstGeom prst="line">
            <a:avLst/>
          </a:prstGeom>
          <a:ln w="19050" cap="rnd">
            <a:solidFill>
              <a:srgbClr val="000000"/>
            </a:solidFill>
            <a:prstDash val="solid"/>
            <a:headEnd type="none" w="sm" len="sm"/>
            <a:tailEnd type="none" w="sm" len="sm"/>
          </a:ln>
        </p:spPr>
        <p:txBody>
          <a:bodyPr/>
          <a:lstStyle/>
          <a:p>
            <a:endParaRPr lang="en-US"/>
          </a:p>
        </p:txBody>
      </p:sp>
      <p:sp>
        <p:nvSpPr>
          <p:cNvPr id="3" name="Freeform 3"/>
          <p:cNvSpPr/>
          <p:nvPr/>
        </p:nvSpPr>
        <p:spPr>
          <a:xfrm>
            <a:off x="11834009" y="1028700"/>
            <a:ext cx="5534371" cy="6166430"/>
          </a:xfrm>
          <a:custGeom>
            <a:avLst/>
            <a:gdLst/>
            <a:ahLst/>
            <a:cxnLst/>
            <a:rect l="l" t="t" r="r" b="b"/>
            <a:pathLst>
              <a:path w="5534371" h="6166430">
                <a:moveTo>
                  <a:pt x="0" y="0"/>
                </a:moveTo>
                <a:lnTo>
                  <a:pt x="5534371" y="0"/>
                </a:lnTo>
                <a:lnTo>
                  <a:pt x="5534371" y="6166430"/>
                </a:lnTo>
                <a:lnTo>
                  <a:pt x="0" y="61664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0516856" y="4816871"/>
            <a:ext cx="3854720" cy="3854720"/>
          </a:xfrm>
          <a:custGeom>
            <a:avLst/>
            <a:gdLst/>
            <a:ahLst/>
            <a:cxnLst/>
            <a:rect l="l" t="t" r="r" b="b"/>
            <a:pathLst>
              <a:path w="3854720" h="3854720">
                <a:moveTo>
                  <a:pt x="0" y="0"/>
                </a:moveTo>
                <a:lnTo>
                  <a:pt x="3854720" y="0"/>
                </a:lnTo>
                <a:lnTo>
                  <a:pt x="3854720" y="3854720"/>
                </a:lnTo>
                <a:lnTo>
                  <a:pt x="0" y="3854720"/>
                </a:lnTo>
                <a:lnTo>
                  <a:pt x="0" y="0"/>
                </a:lnTo>
                <a:close/>
              </a:path>
            </a:pathLst>
          </a:custGeom>
          <a:blipFill>
            <a:blip r:embed="rId3"/>
            <a:stretch>
              <a:fillRect/>
            </a:stretch>
          </a:blipFill>
        </p:spPr>
        <p:txBody>
          <a:bodyPr/>
          <a:lstStyle/>
          <a:p>
            <a:endParaRPr lang="en-US"/>
          </a:p>
        </p:txBody>
      </p:sp>
      <p:sp>
        <p:nvSpPr>
          <p:cNvPr id="5" name="Freeform 5"/>
          <p:cNvSpPr/>
          <p:nvPr/>
        </p:nvSpPr>
        <p:spPr>
          <a:xfrm>
            <a:off x="10980936" y="2505161"/>
            <a:ext cx="5799932" cy="4896109"/>
          </a:xfrm>
          <a:custGeom>
            <a:avLst/>
            <a:gdLst/>
            <a:ahLst/>
            <a:cxnLst/>
            <a:rect l="l" t="t" r="r" b="b"/>
            <a:pathLst>
              <a:path w="5799932" h="4896109">
                <a:moveTo>
                  <a:pt x="0" y="0"/>
                </a:moveTo>
                <a:lnTo>
                  <a:pt x="5799932" y="0"/>
                </a:lnTo>
                <a:lnTo>
                  <a:pt x="5799932" y="4896109"/>
                </a:lnTo>
                <a:lnTo>
                  <a:pt x="0" y="48961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381486" y="586238"/>
            <a:ext cx="15290927" cy="1602362"/>
          </a:xfrm>
          <a:prstGeom prst="rect">
            <a:avLst/>
          </a:prstGeom>
        </p:spPr>
        <p:txBody>
          <a:bodyPr wrap="square" lIns="0" tIns="0" rIns="0" bIns="0" rtlCol="0" anchor="t">
            <a:spAutoFit/>
          </a:bodyPr>
          <a:lstStyle/>
          <a:p>
            <a:pPr algn="ctr">
              <a:lnSpc>
                <a:spcPts val="6029"/>
              </a:lnSpc>
            </a:pPr>
            <a:r>
              <a:rPr lang="en-US" sz="6650" dirty="0">
                <a:solidFill>
                  <a:srgbClr val="010101"/>
                </a:solidFill>
                <a:latin typeface="Le Jour Serif"/>
                <a:ea typeface="Le Jour Serif"/>
                <a:cs typeface="Le Jour Serif"/>
                <a:sym typeface="Le Jour Serif"/>
              </a:rPr>
              <a:t>Total Transactions per Month by Category</a:t>
            </a:r>
            <a:endParaRPr lang="en-US" sz="6650" dirty="0">
              <a:solidFill>
                <a:srgbClr val="010101"/>
              </a:solidFill>
              <a:latin typeface="Le Jour Serif"/>
              <a:ea typeface="Le Jour Serif"/>
              <a:cs typeface="Le Jour Serif"/>
            </a:endParaRPr>
          </a:p>
        </p:txBody>
      </p:sp>
      <p:sp>
        <p:nvSpPr>
          <p:cNvPr id="8" name="Freeform 8"/>
          <p:cNvSpPr/>
          <p:nvPr/>
        </p:nvSpPr>
        <p:spPr>
          <a:xfrm>
            <a:off x="10389189" y="1883949"/>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16230600" y="1000322"/>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2" name="Picture 11" descr="A white background with black text&#10;&#10;AI-generated content may be incorrect.">
            <a:extLst>
              <a:ext uri="{FF2B5EF4-FFF2-40B4-BE49-F238E27FC236}">
                <a16:creationId xmlns:a16="http://schemas.microsoft.com/office/drawing/2014/main" id="{E2355FD5-AE6A-0B9F-428F-83E2747FA051}"/>
              </a:ext>
            </a:extLst>
          </p:cNvPr>
          <p:cNvPicPr>
            <a:picLocks noChangeAspect="1"/>
          </p:cNvPicPr>
          <p:nvPr/>
        </p:nvPicPr>
        <p:blipFill>
          <a:blip r:embed="rId6"/>
          <a:stretch>
            <a:fillRect/>
          </a:stretch>
        </p:blipFill>
        <p:spPr>
          <a:xfrm>
            <a:off x="301825" y="2487114"/>
            <a:ext cx="7254322" cy="2324100"/>
          </a:xfrm>
          <a:prstGeom prst="rect">
            <a:avLst/>
          </a:prstGeom>
        </p:spPr>
      </p:pic>
      <p:pic>
        <p:nvPicPr>
          <p:cNvPr id="13" name="Picture 12" descr="A white background with black text&#10;&#10;AI-generated content may be incorrect.">
            <a:extLst>
              <a:ext uri="{FF2B5EF4-FFF2-40B4-BE49-F238E27FC236}">
                <a16:creationId xmlns:a16="http://schemas.microsoft.com/office/drawing/2014/main" id="{6D1F9B4F-BDF3-00C1-0A2F-A772FCFD7C5B}"/>
              </a:ext>
            </a:extLst>
          </p:cNvPr>
          <p:cNvPicPr>
            <a:picLocks noChangeAspect="1"/>
          </p:cNvPicPr>
          <p:nvPr/>
        </p:nvPicPr>
        <p:blipFill>
          <a:blip r:embed="rId7"/>
          <a:stretch>
            <a:fillRect/>
          </a:stretch>
        </p:blipFill>
        <p:spPr>
          <a:xfrm>
            <a:off x="494483" y="7195130"/>
            <a:ext cx="7288695" cy="2555184"/>
          </a:xfrm>
          <a:prstGeom prst="rect">
            <a:avLst/>
          </a:prstGeom>
        </p:spPr>
      </p:pic>
      <p:pic>
        <p:nvPicPr>
          <p:cNvPr id="10" name="Picture 9">
            <a:extLst>
              <a:ext uri="{FF2B5EF4-FFF2-40B4-BE49-F238E27FC236}">
                <a16:creationId xmlns:a16="http://schemas.microsoft.com/office/drawing/2014/main" id="{BE71D0FC-79ED-7D09-1F7D-7CADB90F28B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96824" y="4979725"/>
            <a:ext cx="9077629" cy="1962424"/>
          </a:xfrm>
          <a:prstGeom prst="rect">
            <a:avLst/>
          </a:prstGeom>
        </p:spPr>
      </p:pic>
      <p:pic>
        <p:nvPicPr>
          <p:cNvPr id="25" name="Picture 24">
            <a:extLst>
              <a:ext uri="{FF2B5EF4-FFF2-40B4-BE49-F238E27FC236}">
                <a16:creationId xmlns:a16="http://schemas.microsoft.com/office/drawing/2014/main" id="{B14EC255-8AB1-19BC-B839-6C12D03ECE1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50706" y="7733247"/>
            <a:ext cx="8917674" cy="18766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7676">
        <p159:morph option="byObject"/>
      </p:transition>
    </mc:Choice>
    <mc:Fallback xmlns="">
      <p:transition spd="slow" advTm="77676">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5000108" y="4153423"/>
            <a:ext cx="8287783" cy="0"/>
          </a:xfrm>
          <a:prstGeom prst="line">
            <a:avLst/>
          </a:prstGeom>
          <a:ln w="19050" cap="rnd">
            <a:solidFill>
              <a:srgbClr val="000000"/>
            </a:solidFill>
            <a:prstDash val="solid"/>
            <a:headEnd type="none" w="sm" len="sm"/>
            <a:tailEnd type="none" w="sm" len="sm"/>
          </a:ln>
        </p:spPr>
        <p:txBody>
          <a:bodyPr/>
          <a:lstStyle/>
          <a:p>
            <a:endParaRPr lang="en-US"/>
          </a:p>
        </p:txBody>
      </p:sp>
      <p:sp>
        <p:nvSpPr>
          <p:cNvPr id="3" name="Freeform 3"/>
          <p:cNvSpPr/>
          <p:nvPr/>
        </p:nvSpPr>
        <p:spPr>
          <a:xfrm>
            <a:off x="13012808" y="-346333"/>
            <a:ext cx="5534371" cy="6166430"/>
          </a:xfrm>
          <a:custGeom>
            <a:avLst/>
            <a:gdLst/>
            <a:ahLst/>
            <a:cxnLst/>
            <a:rect l="l" t="t" r="r" b="b"/>
            <a:pathLst>
              <a:path w="5534371" h="6166430">
                <a:moveTo>
                  <a:pt x="0" y="0"/>
                </a:moveTo>
                <a:lnTo>
                  <a:pt x="5534371" y="0"/>
                </a:lnTo>
                <a:lnTo>
                  <a:pt x="5534371" y="6166430"/>
                </a:lnTo>
                <a:lnTo>
                  <a:pt x="0" y="61664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325977" y="4693112"/>
            <a:ext cx="5957547" cy="5957547"/>
          </a:xfrm>
          <a:custGeom>
            <a:avLst/>
            <a:gdLst/>
            <a:ahLst/>
            <a:cxnLst/>
            <a:rect l="l" t="t" r="r" b="b"/>
            <a:pathLst>
              <a:path w="5957547" h="5957547">
                <a:moveTo>
                  <a:pt x="0" y="0"/>
                </a:moveTo>
                <a:lnTo>
                  <a:pt x="5957547" y="0"/>
                </a:lnTo>
                <a:lnTo>
                  <a:pt x="5957547" y="5957547"/>
                </a:lnTo>
                <a:lnTo>
                  <a:pt x="0" y="5957547"/>
                </a:lnTo>
                <a:lnTo>
                  <a:pt x="0" y="0"/>
                </a:lnTo>
                <a:close/>
              </a:path>
            </a:pathLst>
          </a:custGeom>
          <a:blipFill>
            <a:blip r:embed="rId3"/>
            <a:stretch>
              <a:fillRect/>
            </a:stretch>
          </a:blipFill>
        </p:spPr>
        <p:txBody>
          <a:bodyPr/>
          <a:lstStyle/>
          <a:p>
            <a:endParaRPr lang="en-US"/>
          </a:p>
        </p:txBody>
      </p:sp>
      <p:sp>
        <p:nvSpPr>
          <p:cNvPr id="5" name="Freeform 5"/>
          <p:cNvSpPr/>
          <p:nvPr/>
        </p:nvSpPr>
        <p:spPr>
          <a:xfrm>
            <a:off x="873884" y="4034460"/>
            <a:ext cx="2978774" cy="3576316"/>
          </a:xfrm>
          <a:custGeom>
            <a:avLst/>
            <a:gdLst/>
            <a:ahLst/>
            <a:cxnLst/>
            <a:rect l="l" t="t" r="r" b="b"/>
            <a:pathLst>
              <a:path w="2978774" h="3576316">
                <a:moveTo>
                  <a:pt x="0" y="0"/>
                </a:moveTo>
                <a:lnTo>
                  <a:pt x="2978773" y="0"/>
                </a:lnTo>
                <a:lnTo>
                  <a:pt x="2978773" y="3576316"/>
                </a:lnTo>
                <a:lnTo>
                  <a:pt x="0" y="35763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4277141" y="725175"/>
            <a:ext cx="9733718" cy="3718326"/>
          </a:xfrm>
          <a:prstGeom prst="rect">
            <a:avLst/>
          </a:prstGeom>
        </p:spPr>
        <p:txBody>
          <a:bodyPr lIns="0" tIns="0" rIns="0" bIns="0" rtlCol="0" anchor="t">
            <a:spAutoFit/>
          </a:bodyPr>
          <a:lstStyle/>
          <a:p>
            <a:pPr algn="ctr">
              <a:lnSpc>
                <a:spcPts val="7110"/>
              </a:lnSpc>
            </a:pPr>
            <a:r>
              <a:rPr lang="en-US" sz="7900">
                <a:solidFill>
                  <a:srgbClr val="010101"/>
                </a:solidFill>
                <a:latin typeface="Le Jour Serif"/>
                <a:ea typeface="Le Jour Serif"/>
                <a:cs typeface="Le Jour Serif"/>
                <a:sym typeface="Le Jour Serif"/>
              </a:rPr>
              <a:t>Total Sales Revenue per Month by Category</a:t>
            </a:r>
            <a:endParaRPr lang="en-US" sz="7900">
              <a:solidFill>
                <a:srgbClr val="010101"/>
              </a:solidFill>
              <a:latin typeface="Le Jour Serif"/>
              <a:ea typeface="Le Jour Serif"/>
              <a:cs typeface="Le Jour Serif"/>
            </a:endParaRPr>
          </a:p>
        </p:txBody>
      </p:sp>
      <p:sp>
        <p:nvSpPr>
          <p:cNvPr id="8" name="Freeform 8"/>
          <p:cNvSpPr/>
          <p:nvPr/>
        </p:nvSpPr>
        <p:spPr>
          <a:xfrm>
            <a:off x="14439543" y="2248823"/>
            <a:ext cx="2974574" cy="3571274"/>
          </a:xfrm>
          <a:custGeom>
            <a:avLst/>
            <a:gdLst/>
            <a:ahLst/>
            <a:cxnLst/>
            <a:rect l="l" t="t" r="r" b="b"/>
            <a:pathLst>
              <a:path w="2974574" h="3571274">
                <a:moveTo>
                  <a:pt x="0" y="0"/>
                </a:moveTo>
                <a:lnTo>
                  <a:pt x="2974573" y="0"/>
                </a:lnTo>
                <a:lnTo>
                  <a:pt x="2974573" y="3571274"/>
                </a:lnTo>
                <a:lnTo>
                  <a:pt x="0" y="357127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2508006" y="1491423"/>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6306800" y="8224384"/>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3" name="Picture 12" descr="A screenshot of a computer screen&#10;&#10;AI-generated content may be incorrect.">
            <a:extLst>
              <a:ext uri="{FF2B5EF4-FFF2-40B4-BE49-F238E27FC236}">
                <a16:creationId xmlns:a16="http://schemas.microsoft.com/office/drawing/2014/main" id="{00323169-BC89-9D67-F36B-1C8F4006F643}"/>
              </a:ext>
            </a:extLst>
          </p:cNvPr>
          <p:cNvPicPr>
            <a:picLocks noChangeAspect="1"/>
          </p:cNvPicPr>
          <p:nvPr/>
        </p:nvPicPr>
        <p:blipFill>
          <a:blip r:embed="rId6"/>
          <a:stretch>
            <a:fillRect/>
          </a:stretch>
        </p:blipFill>
        <p:spPr>
          <a:xfrm>
            <a:off x="8933976" y="7542247"/>
            <a:ext cx="7229475" cy="2247900"/>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7F516930-3D79-D914-B069-0CBE4E75503B}"/>
              </a:ext>
            </a:extLst>
          </p:cNvPr>
          <p:cNvPicPr>
            <a:picLocks noChangeAspect="1"/>
          </p:cNvPicPr>
          <p:nvPr/>
        </p:nvPicPr>
        <p:blipFill>
          <a:blip r:embed="rId7"/>
          <a:stretch>
            <a:fillRect/>
          </a:stretch>
        </p:blipFill>
        <p:spPr>
          <a:xfrm>
            <a:off x="2949819" y="4369495"/>
            <a:ext cx="6858000" cy="2400300"/>
          </a:xfrm>
          <a:prstGeom prst="rect">
            <a:avLst/>
          </a:prstGeom>
        </p:spPr>
      </p:pic>
      <p:pic>
        <p:nvPicPr>
          <p:cNvPr id="11" name="Picture 10">
            <a:extLst>
              <a:ext uri="{FF2B5EF4-FFF2-40B4-BE49-F238E27FC236}">
                <a16:creationId xmlns:a16="http://schemas.microsoft.com/office/drawing/2014/main" id="{7CD51EF9-08C8-F19F-7DC8-203920DCD91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71774" y="5781339"/>
            <a:ext cx="7478169" cy="933580"/>
          </a:xfrm>
          <a:prstGeom prst="rect">
            <a:avLst/>
          </a:prstGeom>
        </p:spPr>
      </p:pic>
      <p:pic>
        <p:nvPicPr>
          <p:cNvPr id="18" name="Picture 17">
            <a:extLst>
              <a:ext uri="{FF2B5EF4-FFF2-40B4-BE49-F238E27FC236}">
                <a16:creationId xmlns:a16="http://schemas.microsoft.com/office/drawing/2014/main" id="{BDE5E481-F02D-C3F1-E342-93B636B9797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31511" y="7544252"/>
            <a:ext cx="7459116" cy="97168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9311">
        <p159:morph option="byObject"/>
      </p:transition>
    </mc:Choice>
    <mc:Fallback xmlns="">
      <p:transition spd="slow" advTm="8931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TextBox 2"/>
          <p:cNvSpPr txBox="1"/>
          <p:nvPr/>
        </p:nvSpPr>
        <p:spPr>
          <a:xfrm>
            <a:off x="7860474" y="1305659"/>
            <a:ext cx="8889565" cy="1067600"/>
          </a:xfrm>
          <a:prstGeom prst="rect">
            <a:avLst/>
          </a:prstGeom>
        </p:spPr>
        <p:txBody>
          <a:bodyPr lIns="0" tIns="0" rIns="0" bIns="0" rtlCol="0" anchor="t">
            <a:spAutoFit/>
          </a:bodyPr>
          <a:lstStyle/>
          <a:p>
            <a:pPr algn="ctr">
              <a:lnSpc>
                <a:spcPts val="7692"/>
              </a:lnSpc>
            </a:pPr>
            <a:r>
              <a:rPr lang="en-US" sz="8500">
                <a:solidFill>
                  <a:srgbClr val="010101"/>
                </a:solidFill>
                <a:latin typeface="Le Jour Serif"/>
                <a:ea typeface="Le Jour Serif"/>
                <a:cs typeface="Le Jour Serif"/>
              </a:rPr>
              <a:t>Marketing</a:t>
            </a:r>
          </a:p>
        </p:txBody>
      </p:sp>
      <p:sp>
        <p:nvSpPr>
          <p:cNvPr id="3" name="AutoShape 3"/>
          <p:cNvSpPr/>
          <p:nvPr/>
        </p:nvSpPr>
        <p:spPr>
          <a:xfrm>
            <a:off x="8125491" y="2166597"/>
            <a:ext cx="8881336" cy="0"/>
          </a:xfrm>
          <a:prstGeom prst="line">
            <a:avLst/>
          </a:prstGeom>
          <a:ln w="19050" cap="rnd">
            <a:solidFill>
              <a:srgbClr val="000000"/>
            </a:solidFill>
            <a:prstDash val="solid"/>
            <a:headEnd type="none" w="sm" len="sm"/>
            <a:tailEnd type="none" w="sm" len="sm"/>
          </a:ln>
        </p:spPr>
        <p:txBody>
          <a:bodyPr/>
          <a:lstStyle/>
          <a:p>
            <a:endParaRPr lang="en-US"/>
          </a:p>
        </p:txBody>
      </p:sp>
      <p:sp>
        <p:nvSpPr>
          <p:cNvPr id="4" name="Freeform 4"/>
          <p:cNvSpPr/>
          <p:nvPr/>
        </p:nvSpPr>
        <p:spPr>
          <a:xfrm>
            <a:off x="1250782" y="2449116"/>
            <a:ext cx="5986855" cy="5986855"/>
          </a:xfrm>
          <a:custGeom>
            <a:avLst/>
            <a:gdLst/>
            <a:ahLst/>
            <a:cxnLst/>
            <a:rect l="l" t="t" r="r" b="b"/>
            <a:pathLst>
              <a:path w="5986855" h="5986855">
                <a:moveTo>
                  <a:pt x="0" y="0"/>
                </a:moveTo>
                <a:lnTo>
                  <a:pt x="5986855" y="0"/>
                </a:lnTo>
                <a:lnTo>
                  <a:pt x="5986855" y="5986854"/>
                </a:lnTo>
                <a:lnTo>
                  <a:pt x="0" y="5986854"/>
                </a:lnTo>
                <a:lnTo>
                  <a:pt x="0" y="0"/>
                </a:lnTo>
                <a:close/>
              </a:path>
            </a:pathLst>
          </a:custGeom>
          <a:blipFill>
            <a:blip r:embed="rId2"/>
            <a:stretch>
              <a:fillRect/>
            </a:stretch>
          </a:blipFill>
        </p:spPr>
        <p:txBody>
          <a:bodyPr/>
          <a:lstStyle/>
          <a:p>
            <a:endParaRPr lang="en-US"/>
          </a:p>
        </p:txBody>
      </p:sp>
      <p:sp>
        <p:nvSpPr>
          <p:cNvPr id="5" name="Freeform 5"/>
          <p:cNvSpPr/>
          <p:nvPr/>
        </p:nvSpPr>
        <p:spPr>
          <a:xfrm>
            <a:off x="5272027" y="1308330"/>
            <a:ext cx="3295946" cy="3672363"/>
          </a:xfrm>
          <a:custGeom>
            <a:avLst/>
            <a:gdLst/>
            <a:ahLst/>
            <a:cxnLst/>
            <a:rect l="l" t="t" r="r" b="b"/>
            <a:pathLst>
              <a:path w="3295946" h="3672363">
                <a:moveTo>
                  <a:pt x="0" y="0"/>
                </a:moveTo>
                <a:lnTo>
                  <a:pt x="3295946" y="0"/>
                </a:lnTo>
                <a:lnTo>
                  <a:pt x="3295946" y="3672363"/>
                </a:lnTo>
                <a:lnTo>
                  <a:pt x="0" y="36723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8419550" y="2612232"/>
            <a:ext cx="8293218" cy="7144520"/>
          </a:xfrm>
          <a:prstGeom prst="rect">
            <a:avLst/>
          </a:prstGeom>
        </p:spPr>
        <p:txBody>
          <a:bodyPr wrap="square" lIns="0" tIns="0" rIns="0" bIns="0" rtlCol="0" anchor="t">
            <a:spAutoFit/>
          </a:bodyPr>
          <a:lstStyle/>
          <a:p>
            <a:pPr marL="457200" indent="-457200" algn="ctr">
              <a:buFont typeface="Wingdings"/>
              <a:buChar char="v"/>
            </a:pPr>
            <a:r>
              <a:rPr lang="en-US" sz="2400">
                <a:solidFill>
                  <a:srgbClr val="010101"/>
                </a:solidFill>
                <a:ea typeface="+mn-lt"/>
                <a:cs typeface="+mn-lt"/>
                <a:sym typeface="Forum"/>
              </a:rPr>
              <a:t>Technology &amp; Accessories is the highest product category in terms of revenue, which is especially remarkable given its importance as an educational need for our customers.</a:t>
            </a:r>
            <a:endParaRPr lang="en-US" sz="2400" dirty="0">
              <a:solidFill>
                <a:srgbClr val="010101"/>
              </a:solidFill>
              <a:ea typeface="+mn-lt"/>
              <a:cs typeface="+mn-lt"/>
            </a:endParaRPr>
          </a:p>
          <a:p>
            <a:pPr algn="ctr"/>
            <a:endParaRPr lang="en-US" sz="2400" dirty="0">
              <a:solidFill>
                <a:srgbClr val="010101"/>
              </a:solidFill>
              <a:ea typeface="+mn-lt"/>
              <a:cs typeface="+mn-lt"/>
            </a:endParaRPr>
          </a:p>
          <a:p>
            <a:pPr marL="457200" indent="-457200" algn="ctr">
              <a:buFont typeface="Wingdings"/>
              <a:buChar char="v"/>
            </a:pPr>
            <a:r>
              <a:rPr lang="en-US" sz="2400" dirty="0">
                <a:solidFill>
                  <a:srgbClr val="010101"/>
                </a:solidFill>
                <a:ea typeface="+mn-lt"/>
                <a:cs typeface="+mn-lt"/>
                <a:sym typeface="Forum"/>
              </a:rPr>
              <a:t>Customers who make up the majority of those sales but are not members of our rewards program need to be encouraged to become members, as they would greatly benefit from being awarded for their purchases, big or small.</a:t>
            </a:r>
            <a:endParaRPr lang="en-US" sz="2400" dirty="0">
              <a:solidFill>
                <a:srgbClr val="010101"/>
              </a:solidFill>
              <a:ea typeface="+mn-lt"/>
              <a:cs typeface="+mn-lt"/>
            </a:endParaRPr>
          </a:p>
          <a:p>
            <a:pPr algn="ctr"/>
            <a:endParaRPr lang="en-US" sz="2400" dirty="0">
              <a:solidFill>
                <a:srgbClr val="010101"/>
              </a:solidFill>
              <a:ea typeface="+mn-lt"/>
              <a:cs typeface="+mn-lt"/>
            </a:endParaRPr>
          </a:p>
          <a:p>
            <a:pPr marL="457200" indent="-457200" algn="ctr">
              <a:buFont typeface="Wingdings"/>
              <a:buChar char="v"/>
            </a:pPr>
            <a:r>
              <a:rPr lang="en-US" sz="2400" dirty="0">
                <a:solidFill>
                  <a:srgbClr val="010101"/>
                </a:solidFill>
                <a:ea typeface="+mn-lt"/>
                <a:cs typeface="+mn-lt"/>
                <a:sym typeface="Forum"/>
              </a:rPr>
              <a:t>Focusing on pushing the rewards program will boost sales in Technology &amp; Accessories, but can also boost sales of other items that haven't garnered a high enough total revenue.</a:t>
            </a:r>
            <a:endParaRPr lang="en-US" sz="2400" dirty="0">
              <a:solidFill>
                <a:srgbClr val="010101"/>
              </a:solidFill>
              <a:ea typeface="+mn-lt"/>
              <a:cs typeface="+mn-lt"/>
            </a:endParaRPr>
          </a:p>
          <a:p>
            <a:pPr algn="ctr"/>
            <a:endParaRPr lang="en-US" sz="2400" dirty="0">
              <a:solidFill>
                <a:srgbClr val="010101"/>
              </a:solidFill>
              <a:ea typeface="+mn-lt"/>
              <a:cs typeface="+mn-lt"/>
            </a:endParaRPr>
          </a:p>
          <a:p>
            <a:pPr marL="457200" indent="-457200" algn="ctr">
              <a:buFont typeface="Wingdings"/>
              <a:buChar char="v"/>
            </a:pPr>
            <a:r>
              <a:rPr lang="en-US" sz="2400" dirty="0">
                <a:solidFill>
                  <a:srgbClr val="010101"/>
                </a:solidFill>
                <a:ea typeface="+mn-lt"/>
                <a:cs typeface="+mn-lt"/>
                <a:sym typeface="Forum"/>
              </a:rPr>
              <a:t>With the right strategy, the rewards program can garner more financial gain for the company, especially since our customer base is college students who are in need of something that brings financial ease when purchasing things needed for their classes.</a:t>
            </a:r>
            <a:endParaRPr lang="en-US" sz="2400" dirty="0">
              <a:ea typeface="+mn-lt"/>
              <a:cs typeface="+mn-lt"/>
            </a:endParaRPr>
          </a:p>
          <a:p>
            <a:pPr algn="ctr">
              <a:lnSpc>
                <a:spcPts val="4318"/>
              </a:lnSpc>
            </a:pPr>
            <a:endParaRPr lang="en-US" sz="2400" dirty="0">
              <a:solidFill>
                <a:srgbClr val="010101"/>
              </a:solidFill>
              <a:latin typeface="Forum"/>
            </a:endParaRPr>
          </a:p>
        </p:txBody>
      </p:sp>
      <p:sp>
        <p:nvSpPr>
          <p:cNvPr id="7" name="Freeform 7"/>
          <p:cNvSpPr/>
          <p:nvPr/>
        </p:nvSpPr>
        <p:spPr>
          <a:xfrm>
            <a:off x="1961926" y="2101262"/>
            <a:ext cx="5105152" cy="3522555"/>
          </a:xfrm>
          <a:custGeom>
            <a:avLst/>
            <a:gdLst/>
            <a:ahLst/>
            <a:cxnLst/>
            <a:rect l="l" t="t" r="r" b="b"/>
            <a:pathLst>
              <a:path w="5105152" h="3522555">
                <a:moveTo>
                  <a:pt x="0" y="0"/>
                </a:moveTo>
                <a:lnTo>
                  <a:pt x="5105152" y="0"/>
                </a:lnTo>
                <a:lnTo>
                  <a:pt x="5105152" y="3522554"/>
                </a:lnTo>
                <a:lnTo>
                  <a:pt x="0" y="3522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5540087" y="958262"/>
            <a:ext cx="883627" cy="883627"/>
          </a:xfrm>
          <a:custGeom>
            <a:avLst/>
            <a:gdLst/>
            <a:ahLst/>
            <a:cxnLst/>
            <a:rect l="l" t="t" r="r" b="b"/>
            <a:pathLst>
              <a:path w="883627" h="883627">
                <a:moveTo>
                  <a:pt x="0" y="0"/>
                </a:moveTo>
                <a:lnTo>
                  <a:pt x="883627" y="0"/>
                </a:lnTo>
                <a:lnTo>
                  <a:pt x="883627" y="883626"/>
                </a:lnTo>
                <a:lnTo>
                  <a:pt x="0" y="883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4072689" y="8172201"/>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82527">
        <p159:morph option="byObject"/>
      </p:transition>
    </mc:Choice>
    <mc:Fallback xmlns="">
      <p:transition spd="slow" advTm="182527">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AutoShape 2"/>
          <p:cNvSpPr/>
          <p:nvPr/>
        </p:nvSpPr>
        <p:spPr>
          <a:xfrm>
            <a:off x="1998612" y="2576409"/>
            <a:ext cx="7144317" cy="0"/>
          </a:xfrm>
          <a:prstGeom prst="line">
            <a:avLst/>
          </a:prstGeom>
          <a:ln w="19050" cap="rnd">
            <a:solidFill>
              <a:srgbClr val="000000"/>
            </a:solidFill>
            <a:prstDash val="solid"/>
            <a:headEnd type="none" w="sm" len="sm"/>
            <a:tailEnd type="none" w="sm" len="sm"/>
          </a:ln>
        </p:spPr>
        <p:txBody>
          <a:bodyPr/>
          <a:lstStyle/>
          <a:p>
            <a:endParaRPr lang="en-US"/>
          </a:p>
        </p:txBody>
      </p:sp>
      <p:sp>
        <p:nvSpPr>
          <p:cNvPr id="3" name="Freeform 3"/>
          <p:cNvSpPr/>
          <p:nvPr/>
        </p:nvSpPr>
        <p:spPr>
          <a:xfrm>
            <a:off x="10734971" y="2574635"/>
            <a:ext cx="5534371" cy="6166430"/>
          </a:xfrm>
          <a:custGeom>
            <a:avLst/>
            <a:gdLst/>
            <a:ahLst/>
            <a:cxnLst/>
            <a:rect l="l" t="t" r="r" b="b"/>
            <a:pathLst>
              <a:path w="5534371" h="6166430">
                <a:moveTo>
                  <a:pt x="0" y="0"/>
                </a:moveTo>
                <a:lnTo>
                  <a:pt x="5534371" y="0"/>
                </a:lnTo>
                <a:lnTo>
                  <a:pt x="5534371" y="6166430"/>
                </a:lnTo>
                <a:lnTo>
                  <a:pt x="0" y="61664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3120398" y="1545935"/>
            <a:ext cx="3854720" cy="3854720"/>
          </a:xfrm>
          <a:custGeom>
            <a:avLst/>
            <a:gdLst/>
            <a:ahLst/>
            <a:cxnLst/>
            <a:rect l="l" t="t" r="r" b="b"/>
            <a:pathLst>
              <a:path w="3854720" h="3854720">
                <a:moveTo>
                  <a:pt x="0" y="0"/>
                </a:moveTo>
                <a:lnTo>
                  <a:pt x="3854720" y="0"/>
                </a:lnTo>
                <a:lnTo>
                  <a:pt x="3854720" y="3854720"/>
                </a:lnTo>
                <a:lnTo>
                  <a:pt x="0" y="3854720"/>
                </a:lnTo>
                <a:lnTo>
                  <a:pt x="0" y="0"/>
                </a:lnTo>
                <a:close/>
              </a:path>
            </a:pathLst>
          </a:custGeom>
          <a:blipFill>
            <a:blip r:embed="rId3"/>
            <a:stretch>
              <a:fillRect/>
            </a:stretch>
          </a:blipFill>
        </p:spPr>
        <p:txBody>
          <a:bodyPr/>
          <a:lstStyle/>
          <a:p>
            <a:endParaRPr lang="en-US"/>
          </a:p>
        </p:txBody>
      </p:sp>
      <p:sp>
        <p:nvSpPr>
          <p:cNvPr id="5" name="Freeform 5"/>
          <p:cNvSpPr/>
          <p:nvPr/>
        </p:nvSpPr>
        <p:spPr>
          <a:xfrm>
            <a:off x="11336289" y="2289064"/>
            <a:ext cx="4636121" cy="5950101"/>
          </a:xfrm>
          <a:custGeom>
            <a:avLst/>
            <a:gdLst/>
            <a:ahLst/>
            <a:cxnLst/>
            <a:rect l="l" t="t" r="r" b="b"/>
            <a:pathLst>
              <a:path w="4636121" h="5950101">
                <a:moveTo>
                  <a:pt x="0" y="0"/>
                </a:moveTo>
                <a:lnTo>
                  <a:pt x="4636120" y="0"/>
                </a:lnTo>
                <a:lnTo>
                  <a:pt x="4636120" y="5950102"/>
                </a:lnTo>
                <a:lnTo>
                  <a:pt x="0" y="595010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491342" y="895609"/>
            <a:ext cx="8158408" cy="1893467"/>
          </a:xfrm>
          <a:prstGeom prst="rect">
            <a:avLst/>
          </a:prstGeom>
        </p:spPr>
        <p:txBody>
          <a:bodyPr lIns="0" tIns="0" rIns="0" bIns="0" rtlCol="0" anchor="t">
            <a:spAutoFit/>
          </a:bodyPr>
          <a:lstStyle/>
          <a:p>
            <a:pPr algn="ctr">
              <a:lnSpc>
                <a:spcPts val="7059"/>
              </a:lnSpc>
            </a:pPr>
            <a:r>
              <a:rPr lang="en-US" sz="7800" dirty="0">
                <a:solidFill>
                  <a:srgbClr val="010101"/>
                </a:solidFill>
                <a:latin typeface="Le Jour Serif"/>
                <a:ea typeface="Le Jour Serif"/>
                <a:cs typeface="Le Jour Serif"/>
                <a:sym typeface="Le Jour Serif"/>
              </a:rPr>
              <a:t>My </a:t>
            </a:r>
            <a:r>
              <a:rPr lang="en-US" sz="7800" dirty="0" err="1">
                <a:solidFill>
                  <a:srgbClr val="010101"/>
                </a:solidFill>
                <a:latin typeface="Le Jour Serif"/>
                <a:ea typeface="Le Jour Serif"/>
                <a:cs typeface="Le Jour Serif"/>
                <a:sym typeface="Le Jour Serif"/>
              </a:rPr>
              <a:t>Github</a:t>
            </a:r>
            <a:r>
              <a:rPr lang="en-US" sz="7800" dirty="0">
                <a:solidFill>
                  <a:srgbClr val="010101"/>
                </a:solidFill>
                <a:latin typeface="Le Jour Serif"/>
                <a:ea typeface="Le Jour Serif"/>
                <a:cs typeface="Le Jour Serif"/>
                <a:sym typeface="Le Jour Serif"/>
              </a:rPr>
              <a:t> </a:t>
            </a:r>
            <a:r>
              <a:rPr lang="en-US" sz="7800" dirty="0" err="1">
                <a:solidFill>
                  <a:srgbClr val="010101"/>
                </a:solidFill>
                <a:latin typeface="Le Jour Serif"/>
                <a:ea typeface="Le Jour Serif"/>
                <a:cs typeface="Le Jour Serif"/>
                <a:sym typeface="Le Jour Serif"/>
              </a:rPr>
              <a:t>Respository</a:t>
            </a:r>
            <a:r>
              <a:rPr lang="en-US" sz="7800" dirty="0">
                <a:solidFill>
                  <a:srgbClr val="010101"/>
                </a:solidFill>
                <a:latin typeface="Le Jour Serif"/>
                <a:ea typeface="Le Jour Serif"/>
                <a:cs typeface="Le Jour Serif"/>
                <a:sym typeface="Le Jour Serif"/>
              </a:rPr>
              <a:t> </a:t>
            </a:r>
          </a:p>
        </p:txBody>
      </p:sp>
      <p:sp>
        <p:nvSpPr>
          <p:cNvPr id="8" name="Freeform 8"/>
          <p:cNvSpPr/>
          <p:nvPr/>
        </p:nvSpPr>
        <p:spPr>
          <a:xfrm>
            <a:off x="10293157" y="1395592"/>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16375673" y="8493915"/>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0" name="Picture 9" descr="A screenshot of a computer program&#10;&#10;AI-generated content may be incorrect.">
            <a:extLst>
              <a:ext uri="{FF2B5EF4-FFF2-40B4-BE49-F238E27FC236}">
                <a16:creationId xmlns:a16="http://schemas.microsoft.com/office/drawing/2014/main" id="{41A9F46C-5028-EB2D-811E-1A7FAE3BEC66}"/>
              </a:ext>
            </a:extLst>
          </p:cNvPr>
          <p:cNvPicPr>
            <a:picLocks noChangeAspect="1"/>
          </p:cNvPicPr>
          <p:nvPr/>
        </p:nvPicPr>
        <p:blipFill>
          <a:blip r:embed="rId6"/>
          <a:stretch>
            <a:fillRect/>
          </a:stretch>
        </p:blipFill>
        <p:spPr>
          <a:xfrm>
            <a:off x="638796" y="3059387"/>
            <a:ext cx="10289071" cy="58703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190">
        <p159:morph option="byObject"/>
      </p:transition>
    </mc:Choice>
    <mc:Fallback xmlns="">
      <p:transition spd="slow" advTm="3019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3" name="AutoShape 3"/>
          <p:cNvSpPr/>
          <p:nvPr/>
        </p:nvSpPr>
        <p:spPr>
          <a:xfrm>
            <a:off x="2793608" y="6322981"/>
            <a:ext cx="12270477" cy="0"/>
          </a:xfrm>
          <a:prstGeom prst="line">
            <a:avLst/>
          </a:prstGeom>
          <a:ln w="19050" cap="rnd">
            <a:solidFill>
              <a:srgbClr val="000000"/>
            </a:solidFill>
            <a:prstDash val="solid"/>
            <a:headEnd type="none" w="sm" len="sm"/>
            <a:tailEnd type="none" w="sm" len="sm"/>
          </a:ln>
        </p:spPr>
        <p:txBody>
          <a:bodyPr/>
          <a:lstStyle/>
          <a:p>
            <a:endParaRPr lang="en-US"/>
          </a:p>
        </p:txBody>
      </p:sp>
      <p:sp>
        <p:nvSpPr>
          <p:cNvPr id="4" name="Freeform 4"/>
          <p:cNvSpPr/>
          <p:nvPr/>
        </p:nvSpPr>
        <p:spPr>
          <a:xfrm>
            <a:off x="-281793" y="4775058"/>
            <a:ext cx="4615221" cy="5142308"/>
          </a:xfrm>
          <a:custGeom>
            <a:avLst/>
            <a:gdLst/>
            <a:ahLst/>
            <a:cxnLst/>
            <a:rect l="l" t="t" r="r" b="b"/>
            <a:pathLst>
              <a:path w="4615221" h="5142308">
                <a:moveTo>
                  <a:pt x="0" y="0"/>
                </a:moveTo>
                <a:lnTo>
                  <a:pt x="4615222" y="0"/>
                </a:lnTo>
                <a:lnTo>
                  <a:pt x="4615222" y="5142308"/>
                </a:lnTo>
                <a:lnTo>
                  <a:pt x="0" y="51423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3591232" y="734533"/>
            <a:ext cx="4924451" cy="4924451"/>
          </a:xfrm>
          <a:custGeom>
            <a:avLst/>
            <a:gdLst/>
            <a:ahLst/>
            <a:cxnLst/>
            <a:rect l="l" t="t" r="r" b="b"/>
            <a:pathLst>
              <a:path w="4924451" h="4924451">
                <a:moveTo>
                  <a:pt x="0" y="0"/>
                </a:moveTo>
                <a:lnTo>
                  <a:pt x="4924451" y="0"/>
                </a:lnTo>
                <a:lnTo>
                  <a:pt x="4924451" y="4924451"/>
                </a:lnTo>
                <a:lnTo>
                  <a:pt x="0" y="4924451"/>
                </a:lnTo>
                <a:lnTo>
                  <a:pt x="0" y="0"/>
                </a:lnTo>
                <a:close/>
              </a:path>
            </a:pathLst>
          </a:custGeom>
          <a:blipFill>
            <a:blip r:embed="rId3"/>
            <a:stretch>
              <a:fillRect/>
            </a:stretch>
          </a:blipFill>
        </p:spPr>
        <p:txBody>
          <a:bodyPr/>
          <a:lstStyle/>
          <a:p>
            <a:endParaRPr lang="en-US"/>
          </a:p>
        </p:txBody>
      </p:sp>
      <p:sp>
        <p:nvSpPr>
          <p:cNvPr id="6" name="Freeform 6"/>
          <p:cNvSpPr/>
          <p:nvPr/>
        </p:nvSpPr>
        <p:spPr>
          <a:xfrm>
            <a:off x="1224168" y="1644395"/>
            <a:ext cx="3130111" cy="3106635"/>
          </a:xfrm>
          <a:custGeom>
            <a:avLst/>
            <a:gdLst/>
            <a:ahLst/>
            <a:cxnLst/>
            <a:rect l="l" t="t" r="r" b="b"/>
            <a:pathLst>
              <a:path w="3130111" h="3106635">
                <a:moveTo>
                  <a:pt x="0" y="0"/>
                </a:moveTo>
                <a:lnTo>
                  <a:pt x="3130111" y="0"/>
                </a:lnTo>
                <a:lnTo>
                  <a:pt x="3130111" y="3106634"/>
                </a:lnTo>
                <a:lnTo>
                  <a:pt x="0" y="31066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4566825" y="4747548"/>
            <a:ext cx="9651308" cy="1431161"/>
          </a:xfrm>
          <a:prstGeom prst="rect">
            <a:avLst/>
          </a:prstGeom>
        </p:spPr>
        <p:txBody>
          <a:bodyPr wrap="square" lIns="0" tIns="0" rIns="0" bIns="0" rtlCol="0" anchor="t">
            <a:spAutoFit/>
          </a:bodyPr>
          <a:lstStyle/>
          <a:p>
            <a:pPr algn="ctr">
              <a:lnSpc>
                <a:spcPts val="11990"/>
              </a:lnSpc>
            </a:pPr>
            <a:r>
              <a:rPr lang="en-US" sz="7200" dirty="0">
                <a:solidFill>
                  <a:srgbClr val="000000"/>
                </a:solidFill>
                <a:latin typeface="Le Jour Serif"/>
                <a:ea typeface="Le Jour Serif"/>
                <a:cs typeface="Le Jour Serif"/>
              </a:rPr>
              <a:t>For </a:t>
            </a:r>
            <a:r>
              <a:rPr lang="en-US" sz="7200">
                <a:solidFill>
                  <a:srgbClr val="000000"/>
                </a:solidFill>
                <a:latin typeface="Le Jour Serif"/>
                <a:ea typeface="Le Jour Serif"/>
                <a:cs typeface="Le Jour Serif"/>
              </a:rPr>
              <a:t>Listening</a:t>
            </a:r>
            <a:endParaRPr lang="en-US" sz="7200" dirty="0">
              <a:solidFill>
                <a:srgbClr val="000000"/>
              </a:solidFill>
              <a:latin typeface="Le Jour Serif"/>
              <a:ea typeface="Le Jour Serif"/>
              <a:cs typeface="Le Jour Serif"/>
            </a:endParaRPr>
          </a:p>
        </p:txBody>
      </p:sp>
      <p:sp>
        <p:nvSpPr>
          <p:cNvPr id="8" name="TextBox 8"/>
          <p:cNvSpPr txBox="1"/>
          <p:nvPr/>
        </p:nvSpPr>
        <p:spPr>
          <a:xfrm>
            <a:off x="3796542" y="2752744"/>
            <a:ext cx="10694916" cy="2219838"/>
          </a:xfrm>
          <a:prstGeom prst="rect">
            <a:avLst/>
          </a:prstGeom>
        </p:spPr>
        <p:txBody>
          <a:bodyPr lIns="0" tIns="0" rIns="0" bIns="0" rtlCol="0" anchor="t">
            <a:spAutoFit/>
          </a:bodyPr>
          <a:lstStyle/>
          <a:p>
            <a:pPr algn="ctr">
              <a:lnSpc>
                <a:spcPts val="16488"/>
              </a:lnSpc>
            </a:pPr>
            <a:r>
              <a:rPr lang="en-US" sz="16450">
                <a:solidFill>
                  <a:srgbClr val="000000"/>
                </a:solidFill>
                <a:latin typeface="Parfumerie Script Pro"/>
                <a:ea typeface="Parfumerie Script Pro"/>
                <a:cs typeface="Parfumerie Script Pro"/>
                <a:sym typeface="Parfumerie Script Pro"/>
              </a:rPr>
              <a:t>Thank you all </a:t>
            </a:r>
            <a:endParaRPr lang="en-US" sz="16450">
              <a:solidFill>
                <a:srgbClr val="000000"/>
              </a:solidFill>
              <a:latin typeface="Parfumerie Script Pro"/>
              <a:ea typeface="Parfumerie Script Pro"/>
              <a:cs typeface="Parfumerie Script Pro"/>
            </a:endParaRPr>
          </a:p>
        </p:txBody>
      </p:sp>
      <p:sp>
        <p:nvSpPr>
          <p:cNvPr id="9" name="Freeform 9"/>
          <p:cNvSpPr/>
          <p:nvPr/>
        </p:nvSpPr>
        <p:spPr>
          <a:xfrm>
            <a:off x="14491458" y="6255746"/>
            <a:ext cx="3130111" cy="3106635"/>
          </a:xfrm>
          <a:custGeom>
            <a:avLst/>
            <a:gdLst/>
            <a:ahLst/>
            <a:cxnLst/>
            <a:rect l="l" t="t" r="r" b="b"/>
            <a:pathLst>
              <a:path w="3130111" h="3106635">
                <a:moveTo>
                  <a:pt x="0" y="0"/>
                </a:moveTo>
                <a:lnTo>
                  <a:pt x="3130111" y="0"/>
                </a:lnTo>
                <a:lnTo>
                  <a:pt x="3130111" y="3106635"/>
                </a:lnTo>
                <a:lnTo>
                  <a:pt x="0" y="31066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14845088" y="2312732"/>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905597" y="7951723"/>
            <a:ext cx="883627" cy="883627"/>
          </a:xfrm>
          <a:custGeom>
            <a:avLst/>
            <a:gdLst/>
            <a:ahLst/>
            <a:cxnLst/>
            <a:rect l="l" t="t" r="r" b="b"/>
            <a:pathLst>
              <a:path w="883627" h="883627">
                <a:moveTo>
                  <a:pt x="0" y="0"/>
                </a:moveTo>
                <a:lnTo>
                  <a:pt x="883627" y="0"/>
                </a:lnTo>
                <a:lnTo>
                  <a:pt x="883627" y="883627"/>
                </a:lnTo>
                <a:lnTo>
                  <a:pt x="0" y="8836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210">
        <p159:morph option="byObject"/>
      </p:transition>
    </mc:Choice>
    <mc:Fallback xmlns="">
      <p:transition spd="slow" advTm="221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268</Words>
  <Application>Microsoft Office PowerPoint</Application>
  <PresentationFormat>Custom</PresentationFormat>
  <Paragraphs>37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Le Jour Serif</vt:lpstr>
      <vt:lpstr>Arial</vt:lpstr>
      <vt:lpstr>Wingdings</vt:lpstr>
      <vt:lpstr>Forum</vt:lpstr>
      <vt:lpstr>Parfumerie Script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diapositivas creatividad geométrico aesthetic rosa</dc:title>
  <cp:lastModifiedBy>Maia Black</cp:lastModifiedBy>
  <cp:revision>339</cp:revision>
  <dcterms:created xsi:type="dcterms:W3CDTF">2006-08-16T00:00:00Z</dcterms:created>
  <dcterms:modified xsi:type="dcterms:W3CDTF">2026-05-29T13:46:12Z</dcterms:modified>
  <dc:identifier>DAHLARbbO4A</dc:identifier>
</cp:coreProperties>
</file>